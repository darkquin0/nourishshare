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larendon Narrow" charset="1" panose="00000506000000000000"/>
      <p:regular r:id="rId16"/>
    </p:embeddedFont>
    <p:embeddedFont>
      <p:font typeface="Cloud Bold" charset="1" panose="02000000000000000000"/>
      <p:regular r:id="rId17"/>
    </p:embeddedFont>
    <p:embeddedFont>
      <p:font typeface="Clarendon Narrow Bold" charset="1" panose="00000806000000000000"/>
      <p:regular r:id="rId18"/>
    </p:embeddedFont>
    <p:embeddedFont>
      <p:font typeface="Cloud"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false" rot="0">
            <a:off x="4699198" y="665151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93484" y="-383408"/>
            <a:ext cx="11067650" cy="11053816"/>
          </a:xfrm>
          <a:custGeom>
            <a:avLst/>
            <a:gdLst/>
            <a:ahLst/>
            <a:cxnLst/>
            <a:rect r="r" b="b" t="t" l="l"/>
            <a:pathLst>
              <a:path h="11053816" w="11067650">
                <a:moveTo>
                  <a:pt x="0" y="0"/>
                </a:moveTo>
                <a:lnTo>
                  <a:pt x="11067651" y="0"/>
                </a:lnTo>
                <a:lnTo>
                  <a:pt x="11067651" y="11053816"/>
                </a:lnTo>
                <a:lnTo>
                  <a:pt x="0" y="11053816"/>
                </a:lnTo>
                <a:lnTo>
                  <a:pt x="0" y="0"/>
                </a:lnTo>
                <a:close/>
              </a:path>
            </a:pathLst>
          </a:custGeom>
          <a:blipFill>
            <a:blip r:embed="rId4"/>
            <a:stretch>
              <a:fillRect l="0" t="0" r="0" b="0"/>
            </a:stretch>
          </a:blipFill>
        </p:spPr>
      </p:sp>
      <p:grpSp>
        <p:nvGrpSpPr>
          <p:cNvPr name="Group 4" id="4"/>
          <p:cNvGrpSpPr/>
          <p:nvPr/>
        </p:nvGrpSpPr>
        <p:grpSpPr>
          <a:xfrm rot="5400000">
            <a:off x="7857602" y="-1836977"/>
            <a:ext cx="11343275" cy="13960954"/>
            <a:chOff x="0" y="0"/>
            <a:chExt cx="660400" cy="812800"/>
          </a:xfrm>
        </p:grpSpPr>
        <p:sp>
          <p:nvSpPr>
            <p:cNvPr name="Freeform 5" id="5"/>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2F4156"/>
            </a:solidFill>
          </p:spPr>
        </p:sp>
        <p:sp>
          <p:nvSpPr>
            <p:cNvPr name="TextBox 6" id="6"/>
            <p:cNvSpPr txBox="true"/>
            <p:nvPr/>
          </p:nvSpPr>
          <p:spPr>
            <a:xfrm>
              <a:off x="0" y="-95250"/>
              <a:ext cx="660400" cy="781050"/>
            </a:xfrm>
            <a:prstGeom prst="rect">
              <a:avLst/>
            </a:prstGeom>
          </p:spPr>
          <p:txBody>
            <a:bodyPr anchor="ctr" rtlCol="false" tIns="50800" lIns="50800" bIns="50800" rIns="50800"/>
            <a:lstStyle/>
            <a:p>
              <a:pPr algn="ctr">
                <a:lnSpc>
                  <a:spcPts val="2935"/>
                </a:lnSpc>
              </a:pPr>
            </a:p>
          </p:txBody>
        </p:sp>
      </p:grpSp>
      <p:sp>
        <p:nvSpPr>
          <p:cNvPr name="Freeform 7" id="7"/>
          <p:cNvSpPr/>
          <p:nvPr/>
        </p:nvSpPr>
        <p:spPr>
          <a:xfrm flipH="false" flipV="false" rot="0">
            <a:off x="-333092" y="-383408"/>
            <a:ext cx="5426576" cy="4676722"/>
          </a:xfrm>
          <a:custGeom>
            <a:avLst/>
            <a:gdLst/>
            <a:ahLst/>
            <a:cxnLst/>
            <a:rect r="r" b="b" t="t" l="l"/>
            <a:pathLst>
              <a:path h="4676722" w="5426576">
                <a:moveTo>
                  <a:pt x="0" y="0"/>
                </a:moveTo>
                <a:lnTo>
                  <a:pt x="5426576" y="0"/>
                </a:lnTo>
                <a:lnTo>
                  <a:pt x="5426576" y="4676722"/>
                </a:lnTo>
                <a:lnTo>
                  <a:pt x="0" y="46767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0">
            <a:off x="204154" y="7647498"/>
            <a:ext cx="2176042" cy="2427633"/>
          </a:xfrm>
          <a:custGeom>
            <a:avLst/>
            <a:gdLst/>
            <a:ahLst/>
            <a:cxnLst/>
            <a:rect r="r" b="b" t="t" l="l"/>
            <a:pathLst>
              <a:path h="2427633" w="2176042">
                <a:moveTo>
                  <a:pt x="2176042" y="2427634"/>
                </a:moveTo>
                <a:lnTo>
                  <a:pt x="0" y="2427634"/>
                </a:lnTo>
                <a:lnTo>
                  <a:pt x="0" y="0"/>
                </a:lnTo>
                <a:lnTo>
                  <a:pt x="2176042" y="0"/>
                </a:lnTo>
                <a:lnTo>
                  <a:pt x="2176042" y="2427634"/>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7072145" y="3411592"/>
            <a:ext cx="9612372" cy="3673366"/>
          </a:xfrm>
          <a:prstGeom prst="rect">
            <a:avLst/>
          </a:prstGeom>
        </p:spPr>
        <p:txBody>
          <a:bodyPr anchor="t" rtlCol="false" tIns="0" lIns="0" bIns="0" rIns="0">
            <a:spAutoFit/>
          </a:bodyPr>
          <a:lstStyle/>
          <a:p>
            <a:pPr algn="ctr">
              <a:lnSpc>
                <a:spcPts val="12687"/>
              </a:lnSpc>
            </a:pPr>
            <a:r>
              <a:rPr lang="en-US" sz="14926">
                <a:solidFill>
                  <a:srgbClr val="F5EFEB"/>
                </a:solidFill>
                <a:latin typeface="Clarendon Narrow"/>
                <a:ea typeface="Clarendon Narrow"/>
                <a:cs typeface="Clarendon Narrow"/>
                <a:sym typeface="Clarendon Narrow"/>
              </a:rPr>
              <a:t>NOURISHSHARE</a:t>
            </a:r>
          </a:p>
        </p:txBody>
      </p:sp>
      <p:sp>
        <p:nvSpPr>
          <p:cNvPr name="TextBox 10" id="10"/>
          <p:cNvSpPr txBox="true"/>
          <p:nvPr/>
        </p:nvSpPr>
        <p:spPr>
          <a:xfrm rot="0">
            <a:off x="8024098" y="6637848"/>
            <a:ext cx="7708466" cy="1066800"/>
          </a:xfrm>
          <a:prstGeom prst="rect">
            <a:avLst/>
          </a:prstGeom>
        </p:spPr>
        <p:txBody>
          <a:bodyPr anchor="t" rtlCol="false" tIns="0" lIns="0" bIns="0" rIns="0">
            <a:spAutoFit/>
          </a:bodyPr>
          <a:lstStyle/>
          <a:p>
            <a:pPr algn="ctr">
              <a:lnSpc>
                <a:spcPts val="4200"/>
              </a:lnSpc>
            </a:pPr>
            <a:r>
              <a:rPr lang="en-US" sz="3000" b="true">
                <a:solidFill>
                  <a:srgbClr val="F5EFEB"/>
                </a:solidFill>
                <a:latin typeface="Cloud Bold"/>
                <a:ea typeface="Cloud Bold"/>
                <a:cs typeface="Cloud Bold"/>
                <a:sym typeface="Cloud Bold"/>
              </a:rPr>
              <a:t>Real-Time Geospatial Matching Platform for Urban Food Redistribution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true" rot="0">
            <a:off x="-504025"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889928" y="-343927"/>
            <a:ext cx="6508145" cy="2745254"/>
          </a:xfrm>
          <a:custGeom>
            <a:avLst/>
            <a:gdLst/>
            <a:ahLst/>
            <a:cxnLst/>
            <a:rect r="r" b="b" t="t" l="l"/>
            <a:pathLst>
              <a:path h="2745254" w="6508145">
                <a:moveTo>
                  <a:pt x="6508144" y="2745254"/>
                </a:moveTo>
                <a:lnTo>
                  <a:pt x="0" y="2745254"/>
                </a:lnTo>
                <a:lnTo>
                  <a:pt x="0" y="0"/>
                </a:lnTo>
                <a:lnTo>
                  <a:pt x="6508144" y="0"/>
                </a:lnTo>
                <a:lnTo>
                  <a:pt x="6508144"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283880"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529317" y="1847436"/>
            <a:ext cx="12703611" cy="12691989"/>
          </a:xfrm>
          <a:custGeom>
            <a:avLst/>
            <a:gdLst/>
            <a:ahLst/>
            <a:cxnLst/>
            <a:rect r="r" b="b" t="t" l="l"/>
            <a:pathLst>
              <a:path h="12691989" w="12703611">
                <a:moveTo>
                  <a:pt x="0" y="0"/>
                </a:moveTo>
                <a:lnTo>
                  <a:pt x="12703611" y="0"/>
                </a:lnTo>
                <a:lnTo>
                  <a:pt x="12703611" y="12691988"/>
                </a:lnTo>
                <a:lnTo>
                  <a:pt x="0" y="12691988"/>
                </a:lnTo>
                <a:lnTo>
                  <a:pt x="0" y="0"/>
                </a:lnTo>
                <a:close/>
              </a:path>
            </a:pathLst>
          </a:custGeom>
          <a:blipFill>
            <a:blip r:embed="rId4"/>
            <a:stretch>
              <a:fillRect l="0" t="0" r="0" b="0"/>
            </a:stretch>
          </a:blipFill>
        </p:spPr>
      </p:sp>
      <p:grpSp>
        <p:nvGrpSpPr>
          <p:cNvPr name="Group 6" id="6"/>
          <p:cNvGrpSpPr/>
          <p:nvPr/>
        </p:nvGrpSpPr>
        <p:grpSpPr>
          <a:xfrm rot="0">
            <a:off x="-321706" y="2935499"/>
            <a:ext cx="18931411" cy="9101640"/>
            <a:chOff x="0" y="0"/>
            <a:chExt cx="660400" cy="317500"/>
          </a:xfrm>
        </p:grpSpPr>
        <p:sp>
          <p:nvSpPr>
            <p:cNvPr name="Freeform 7" id="7"/>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2F4156"/>
            </a:solidFill>
          </p:spPr>
        </p:sp>
        <p:sp>
          <p:nvSpPr>
            <p:cNvPr name="TextBox 8" id="8"/>
            <p:cNvSpPr txBox="true"/>
            <p:nvPr/>
          </p:nvSpPr>
          <p:spPr>
            <a:xfrm>
              <a:off x="0" y="31750"/>
              <a:ext cx="660400" cy="285750"/>
            </a:xfrm>
            <a:prstGeom prst="rect">
              <a:avLst/>
            </a:prstGeom>
          </p:spPr>
          <p:txBody>
            <a:bodyPr anchor="ctr" rtlCol="false" tIns="50800" lIns="50800" bIns="50800" rIns="50800"/>
            <a:lstStyle/>
            <a:p>
              <a:pPr algn="ctr">
                <a:lnSpc>
                  <a:spcPts val="2935"/>
                </a:lnSpc>
              </a:pPr>
            </a:p>
          </p:txBody>
        </p:sp>
      </p:grpSp>
      <p:sp>
        <p:nvSpPr>
          <p:cNvPr name="Freeform 9" id="9"/>
          <p:cNvSpPr/>
          <p:nvPr/>
        </p:nvSpPr>
        <p:spPr>
          <a:xfrm flipH="false" flipV="false" rot="0">
            <a:off x="14795531"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923855"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568366" y="1627460"/>
            <a:ext cx="1203264" cy="1203264"/>
          </a:xfrm>
          <a:custGeom>
            <a:avLst/>
            <a:gdLst/>
            <a:ahLst/>
            <a:cxnLst/>
            <a:rect r="r" b="b" t="t" l="l"/>
            <a:pathLst>
              <a:path h="1203264" w="1203264">
                <a:moveTo>
                  <a:pt x="0" y="0"/>
                </a:moveTo>
                <a:lnTo>
                  <a:pt x="1203265" y="0"/>
                </a:lnTo>
                <a:lnTo>
                  <a:pt x="1203265"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1632" y="2401327"/>
            <a:ext cx="1203264" cy="1203264"/>
          </a:xfrm>
          <a:custGeom>
            <a:avLst/>
            <a:gdLst/>
            <a:ahLst/>
            <a:cxnLst/>
            <a:rect r="r" b="b" t="t" l="l"/>
            <a:pathLst>
              <a:path h="1203264" w="1203264">
                <a:moveTo>
                  <a:pt x="0" y="0"/>
                </a:moveTo>
                <a:lnTo>
                  <a:pt x="1203264" y="0"/>
                </a:lnTo>
                <a:lnTo>
                  <a:pt x="1203264"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6442127" y="8117230"/>
            <a:ext cx="5841753" cy="606567"/>
          </a:xfrm>
          <a:prstGeom prst="rect">
            <a:avLst/>
          </a:prstGeom>
        </p:spPr>
        <p:txBody>
          <a:bodyPr anchor="t" rtlCol="false" tIns="0" lIns="0" bIns="0" rIns="0">
            <a:spAutoFit/>
          </a:bodyPr>
          <a:lstStyle/>
          <a:p>
            <a:pPr algn="ctr">
              <a:lnSpc>
                <a:spcPts val="4892"/>
              </a:lnSpc>
              <a:spcBef>
                <a:spcPct val="0"/>
              </a:spcBef>
            </a:pPr>
            <a:r>
              <a:rPr lang="en-US" b="true" sz="3494">
                <a:solidFill>
                  <a:srgbClr val="F5EFEB"/>
                </a:solidFill>
                <a:latin typeface="Cloud Bold"/>
                <a:ea typeface="Cloud Bold"/>
                <a:cs typeface="Cloud Bold"/>
                <a:sym typeface="Cloud Bold"/>
              </a:rPr>
              <a:t>Archi</a:t>
            </a:r>
          </a:p>
        </p:txBody>
      </p:sp>
      <p:sp>
        <p:nvSpPr>
          <p:cNvPr name="TextBox 14" id="14"/>
          <p:cNvSpPr txBox="true"/>
          <p:nvPr/>
        </p:nvSpPr>
        <p:spPr>
          <a:xfrm rot="0">
            <a:off x="6553529" y="7318417"/>
            <a:ext cx="5844543" cy="606567"/>
          </a:xfrm>
          <a:prstGeom prst="rect">
            <a:avLst/>
          </a:prstGeom>
        </p:spPr>
        <p:txBody>
          <a:bodyPr anchor="t" rtlCol="false" tIns="0" lIns="0" bIns="0" rIns="0">
            <a:spAutoFit/>
          </a:bodyPr>
          <a:lstStyle/>
          <a:p>
            <a:pPr algn="ctr">
              <a:lnSpc>
                <a:spcPts val="4892"/>
              </a:lnSpc>
              <a:spcBef>
                <a:spcPct val="0"/>
              </a:spcBef>
            </a:pPr>
            <a:r>
              <a:rPr lang="en-US" b="true" sz="3494">
                <a:solidFill>
                  <a:srgbClr val="F5EFEB"/>
                </a:solidFill>
                <a:latin typeface="Cloud Bold"/>
                <a:ea typeface="Cloud Bold"/>
                <a:cs typeface="Cloud Bold"/>
                <a:sym typeface="Cloud Bold"/>
              </a:rPr>
              <a:t>Adarsh Gupta</a:t>
            </a:r>
          </a:p>
        </p:txBody>
      </p:sp>
      <p:sp>
        <p:nvSpPr>
          <p:cNvPr name="TextBox 15" id="15"/>
          <p:cNvSpPr txBox="true"/>
          <p:nvPr/>
        </p:nvSpPr>
        <p:spPr>
          <a:xfrm rot="0">
            <a:off x="6556319" y="6519603"/>
            <a:ext cx="5841753" cy="606567"/>
          </a:xfrm>
          <a:prstGeom prst="rect">
            <a:avLst/>
          </a:prstGeom>
        </p:spPr>
        <p:txBody>
          <a:bodyPr anchor="t" rtlCol="false" tIns="0" lIns="0" bIns="0" rIns="0">
            <a:spAutoFit/>
          </a:bodyPr>
          <a:lstStyle/>
          <a:p>
            <a:pPr algn="ctr">
              <a:lnSpc>
                <a:spcPts val="4892"/>
              </a:lnSpc>
              <a:spcBef>
                <a:spcPct val="0"/>
              </a:spcBef>
            </a:pPr>
            <a:r>
              <a:rPr lang="en-US" b="true" sz="3494">
                <a:solidFill>
                  <a:srgbClr val="F5EFEB"/>
                </a:solidFill>
                <a:latin typeface="Cloud Bold"/>
                <a:ea typeface="Cloud Bold"/>
                <a:cs typeface="Cloud Bold"/>
                <a:sym typeface="Cloud Bold"/>
              </a:rPr>
              <a:t>Anushka Singh Yadav</a:t>
            </a:r>
          </a:p>
        </p:txBody>
      </p:sp>
      <p:sp>
        <p:nvSpPr>
          <p:cNvPr name="TextBox 16" id="16"/>
          <p:cNvSpPr txBox="true"/>
          <p:nvPr/>
        </p:nvSpPr>
        <p:spPr>
          <a:xfrm rot="0">
            <a:off x="6154587" y="892417"/>
            <a:ext cx="5978825" cy="132715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Our Team</a:t>
            </a:r>
          </a:p>
        </p:txBody>
      </p:sp>
      <p:sp>
        <p:nvSpPr>
          <p:cNvPr name="TextBox 17" id="17"/>
          <p:cNvSpPr txBox="true"/>
          <p:nvPr/>
        </p:nvSpPr>
        <p:spPr>
          <a:xfrm rot="0">
            <a:off x="1028700" y="6329103"/>
            <a:ext cx="5978825" cy="257810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Team Members</a:t>
            </a:r>
          </a:p>
        </p:txBody>
      </p:sp>
      <p:sp>
        <p:nvSpPr>
          <p:cNvPr name="TextBox 18" id="18"/>
          <p:cNvSpPr txBox="true"/>
          <p:nvPr/>
        </p:nvSpPr>
        <p:spPr>
          <a:xfrm rot="0">
            <a:off x="6154587" y="3261055"/>
            <a:ext cx="5978825" cy="133350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Mentor</a:t>
            </a:r>
          </a:p>
        </p:txBody>
      </p:sp>
      <p:sp>
        <p:nvSpPr>
          <p:cNvPr name="TextBox 19" id="19"/>
          <p:cNvSpPr txBox="true"/>
          <p:nvPr/>
        </p:nvSpPr>
        <p:spPr>
          <a:xfrm rot="0">
            <a:off x="6223123" y="5001660"/>
            <a:ext cx="5841753" cy="606567"/>
          </a:xfrm>
          <a:prstGeom prst="rect">
            <a:avLst/>
          </a:prstGeom>
        </p:spPr>
        <p:txBody>
          <a:bodyPr anchor="t" rtlCol="false" tIns="0" lIns="0" bIns="0" rIns="0">
            <a:spAutoFit/>
          </a:bodyPr>
          <a:lstStyle/>
          <a:p>
            <a:pPr algn="ctr">
              <a:lnSpc>
                <a:spcPts val="4892"/>
              </a:lnSpc>
              <a:spcBef>
                <a:spcPct val="0"/>
              </a:spcBef>
            </a:pPr>
            <a:r>
              <a:rPr lang="en-US" b="true" sz="3494">
                <a:solidFill>
                  <a:srgbClr val="F5EFEB"/>
                </a:solidFill>
                <a:latin typeface="Cloud Bold"/>
                <a:ea typeface="Cloud Bold"/>
                <a:cs typeface="Cloud Bold"/>
                <a:sym typeface="Cloud Bold"/>
              </a:rPr>
              <a:t>Pramod Kumar Sethy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true" rot="0">
            <a:off x="-504025"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889928" y="-343927"/>
            <a:ext cx="6508145" cy="2745254"/>
          </a:xfrm>
          <a:custGeom>
            <a:avLst/>
            <a:gdLst/>
            <a:ahLst/>
            <a:cxnLst/>
            <a:rect r="r" b="b" t="t" l="l"/>
            <a:pathLst>
              <a:path h="2745254" w="6508145">
                <a:moveTo>
                  <a:pt x="6508144" y="2745254"/>
                </a:moveTo>
                <a:lnTo>
                  <a:pt x="0" y="2745254"/>
                </a:lnTo>
                <a:lnTo>
                  <a:pt x="0" y="0"/>
                </a:lnTo>
                <a:lnTo>
                  <a:pt x="6508144" y="0"/>
                </a:lnTo>
                <a:lnTo>
                  <a:pt x="6508144"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283880"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529317" y="1847436"/>
            <a:ext cx="12703611" cy="12691989"/>
          </a:xfrm>
          <a:custGeom>
            <a:avLst/>
            <a:gdLst/>
            <a:ahLst/>
            <a:cxnLst/>
            <a:rect r="r" b="b" t="t" l="l"/>
            <a:pathLst>
              <a:path h="12691989" w="12703611">
                <a:moveTo>
                  <a:pt x="0" y="0"/>
                </a:moveTo>
                <a:lnTo>
                  <a:pt x="12703611" y="0"/>
                </a:lnTo>
                <a:lnTo>
                  <a:pt x="12703611" y="12691988"/>
                </a:lnTo>
                <a:lnTo>
                  <a:pt x="0" y="12691988"/>
                </a:lnTo>
                <a:lnTo>
                  <a:pt x="0" y="0"/>
                </a:lnTo>
                <a:close/>
              </a:path>
            </a:pathLst>
          </a:custGeom>
          <a:blipFill>
            <a:blip r:embed="rId4"/>
            <a:stretch>
              <a:fillRect l="0" t="0" r="0" b="0"/>
            </a:stretch>
          </a:blipFill>
        </p:spPr>
      </p:sp>
      <p:grpSp>
        <p:nvGrpSpPr>
          <p:cNvPr name="Group 6" id="6"/>
          <p:cNvGrpSpPr/>
          <p:nvPr/>
        </p:nvGrpSpPr>
        <p:grpSpPr>
          <a:xfrm rot="0">
            <a:off x="-321706" y="2935499"/>
            <a:ext cx="18931411" cy="9101640"/>
            <a:chOff x="0" y="0"/>
            <a:chExt cx="660400" cy="317500"/>
          </a:xfrm>
        </p:grpSpPr>
        <p:sp>
          <p:nvSpPr>
            <p:cNvPr name="Freeform 7" id="7"/>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2F4156"/>
            </a:solidFill>
          </p:spPr>
        </p:sp>
        <p:sp>
          <p:nvSpPr>
            <p:cNvPr name="TextBox 8" id="8"/>
            <p:cNvSpPr txBox="true"/>
            <p:nvPr/>
          </p:nvSpPr>
          <p:spPr>
            <a:xfrm>
              <a:off x="0" y="31750"/>
              <a:ext cx="660400" cy="285750"/>
            </a:xfrm>
            <a:prstGeom prst="rect">
              <a:avLst/>
            </a:prstGeom>
          </p:spPr>
          <p:txBody>
            <a:bodyPr anchor="ctr" rtlCol="false" tIns="50800" lIns="50800" bIns="50800" rIns="50800"/>
            <a:lstStyle/>
            <a:p>
              <a:pPr algn="ctr">
                <a:lnSpc>
                  <a:spcPts val="2935"/>
                </a:lnSpc>
              </a:pPr>
            </a:p>
          </p:txBody>
        </p:sp>
      </p:grpSp>
      <p:sp>
        <p:nvSpPr>
          <p:cNvPr name="Freeform 9" id="9"/>
          <p:cNvSpPr/>
          <p:nvPr/>
        </p:nvSpPr>
        <p:spPr>
          <a:xfrm flipH="false" flipV="false" rot="0">
            <a:off x="14795531"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923855"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568366" y="1627460"/>
            <a:ext cx="1203264" cy="1203264"/>
          </a:xfrm>
          <a:custGeom>
            <a:avLst/>
            <a:gdLst/>
            <a:ahLst/>
            <a:cxnLst/>
            <a:rect r="r" b="b" t="t" l="l"/>
            <a:pathLst>
              <a:path h="1203264" w="1203264">
                <a:moveTo>
                  <a:pt x="0" y="0"/>
                </a:moveTo>
                <a:lnTo>
                  <a:pt x="1203265" y="0"/>
                </a:lnTo>
                <a:lnTo>
                  <a:pt x="1203265"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1632" y="2401327"/>
            <a:ext cx="1203264" cy="1203264"/>
          </a:xfrm>
          <a:custGeom>
            <a:avLst/>
            <a:gdLst/>
            <a:ahLst/>
            <a:cxnLst/>
            <a:rect r="r" b="b" t="t" l="l"/>
            <a:pathLst>
              <a:path h="1203264" w="1203264">
                <a:moveTo>
                  <a:pt x="0" y="0"/>
                </a:moveTo>
                <a:lnTo>
                  <a:pt x="1203264" y="0"/>
                </a:lnTo>
                <a:lnTo>
                  <a:pt x="1203264"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3770807" y="4823053"/>
            <a:ext cx="10746385" cy="4948555"/>
          </a:xfrm>
          <a:prstGeom prst="rect">
            <a:avLst/>
          </a:prstGeom>
        </p:spPr>
        <p:txBody>
          <a:bodyPr anchor="t" rtlCol="false" tIns="0" lIns="0" bIns="0" rIns="0">
            <a:spAutoFit/>
          </a:bodyPr>
          <a:lstStyle/>
          <a:p>
            <a:pPr algn="just">
              <a:lnSpc>
                <a:spcPts val="3919"/>
              </a:lnSpc>
              <a:spcBef>
                <a:spcPct val="0"/>
              </a:spcBef>
            </a:pPr>
            <a:r>
              <a:rPr lang="en-US" sz="2799">
                <a:solidFill>
                  <a:srgbClr val="F5EFEB"/>
                </a:solidFill>
                <a:latin typeface="Cloud"/>
                <a:ea typeface="Cloud"/>
                <a:cs typeface="Cloud"/>
                <a:sym typeface="Cloud"/>
              </a:rPr>
              <a:t>Urban areas face a paradox where large amounts of surplus food are wasted daily while many people still struggle with food insecurity. Existing food redistribution methods rely heavily on manual coordination through calls or messages, which leads to delays, inefficiencies, and increased chances of food spoilage. This lack of a structured, real-time system makes it difficult to connect donors with nearby NGOs effectively. To address this, NourishShare proposes a smart, technology-driven solution that leverages geospatial matching and real-time data to enable faster, more efficient, and scalable food redistribution.</a:t>
            </a:r>
          </a:p>
        </p:txBody>
      </p:sp>
      <p:sp>
        <p:nvSpPr>
          <p:cNvPr name="TextBox 14" id="14"/>
          <p:cNvSpPr txBox="true"/>
          <p:nvPr/>
        </p:nvSpPr>
        <p:spPr>
          <a:xfrm rot="0">
            <a:off x="5984174" y="873367"/>
            <a:ext cx="6319652" cy="132715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true" rot="0">
            <a:off x="-504025"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889928" y="-343927"/>
            <a:ext cx="6508145" cy="2745254"/>
          </a:xfrm>
          <a:custGeom>
            <a:avLst/>
            <a:gdLst/>
            <a:ahLst/>
            <a:cxnLst/>
            <a:rect r="r" b="b" t="t" l="l"/>
            <a:pathLst>
              <a:path h="2745254" w="6508145">
                <a:moveTo>
                  <a:pt x="6508144" y="2745254"/>
                </a:moveTo>
                <a:lnTo>
                  <a:pt x="0" y="2745254"/>
                </a:lnTo>
                <a:lnTo>
                  <a:pt x="0" y="0"/>
                </a:lnTo>
                <a:lnTo>
                  <a:pt x="6508144" y="0"/>
                </a:lnTo>
                <a:lnTo>
                  <a:pt x="6508144"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283880"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529317" y="1847436"/>
            <a:ext cx="12703611" cy="12691989"/>
          </a:xfrm>
          <a:custGeom>
            <a:avLst/>
            <a:gdLst/>
            <a:ahLst/>
            <a:cxnLst/>
            <a:rect r="r" b="b" t="t" l="l"/>
            <a:pathLst>
              <a:path h="12691989" w="12703611">
                <a:moveTo>
                  <a:pt x="0" y="0"/>
                </a:moveTo>
                <a:lnTo>
                  <a:pt x="12703611" y="0"/>
                </a:lnTo>
                <a:lnTo>
                  <a:pt x="12703611" y="12691988"/>
                </a:lnTo>
                <a:lnTo>
                  <a:pt x="0" y="12691988"/>
                </a:lnTo>
                <a:lnTo>
                  <a:pt x="0" y="0"/>
                </a:lnTo>
                <a:close/>
              </a:path>
            </a:pathLst>
          </a:custGeom>
          <a:blipFill>
            <a:blip r:embed="rId4"/>
            <a:stretch>
              <a:fillRect l="0" t="0" r="0" b="0"/>
            </a:stretch>
          </a:blipFill>
        </p:spPr>
      </p:sp>
      <p:grpSp>
        <p:nvGrpSpPr>
          <p:cNvPr name="Group 6" id="6"/>
          <p:cNvGrpSpPr/>
          <p:nvPr/>
        </p:nvGrpSpPr>
        <p:grpSpPr>
          <a:xfrm rot="0">
            <a:off x="-321706" y="3002959"/>
            <a:ext cx="18931411" cy="9101640"/>
            <a:chOff x="0" y="0"/>
            <a:chExt cx="660400" cy="317500"/>
          </a:xfrm>
        </p:grpSpPr>
        <p:sp>
          <p:nvSpPr>
            <p:cNvPr name="Freeform 7" id="7"/>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2F4156"/>
            </a:solidFill>
          </p:spPr>
        </p:sp>
        <p:sp>
          <p:nvSpPr>
            <p:cNvPr name="TextBox 8" id="8"/>
            <p:cNvSpPr txBox="true"/>
            <p:nvPr/>
          </p:nvSpPr>
          <p:spPr>
            <a:xfrm>
              <a:off x="0" y="31750"/>
              <a:ext cx="660400" cy="285750"/>
            </a:xfrm>
            <a:prstGeom prst="rect">
              <a:avLst/>
            </a:prstGeom>
          </p:spPr>
          <p:txBody>
            <a:bodyPr anchor="ctr" rtlCol="false" tIns="50800" lIns="50800" bIns="50800" rIns="50800"/>
            <a:lstStyle/>
            <a:p>
              <a:pPr algn="ctr">
                <a:lnSpc>
                  <a:spcPts val="2935"/>
                </a:lnSpc>
              </a:pPr>
            </a:p>
          </p:txBody>
        </p:sp>
      </p:grpSp>
      <p:sp>
        <p:nvSpPr>
          <p:cNvPr name="Freeform 9" id="9"/>
          <p:cNvSpPr/>
          <p:nvPr/>
        </p:nvSpPr>
        <p:spPr>
          <a:xfrm flipH="false" flipV="false" rot="0">
            <a:off x="14795531"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923855"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568366" y="1627460"/>
            <a:ext cx="1203264" cy="1203264"/>
          </a:xfrm>
          <a:custGeom>
            <a:avLst/>
            <a:gdLst/>
            <a:ahLst/>
            <a:cxnLst/>
            <a:rect r="r" b="b" t="t" l="l"/>
            <a:pathLst>
              <a:path h="1203264" w="1203264">
                <a:moveTo>
                  <a:pt x="0" y="0"/>
                </a:moveTo>
                <a:lnTo>
                  <a:pt x="1203265" y="0"/>
                </a:lnTo>
                <a:lnTo>
                  <a:pt x="1203265"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1632" y="2401327"/>
            <a:ext cx="1203264" cy="1203264"/>
          </a:xfrm>
          <a:custGeom>
            <a:avLst/>
            <a:gdLst/>
            <a:ahLst/>
            <a:cxnLst/>
            <a:rect r="r" b="b" t="t" l="l"/>
            <a:pathLst>
              <a:path h="1203264" w="1203264">
                <a:moveTo>
                  <a:pt x="0" y="0"/>
                </a:moveTo>
                <a:lnTo>
                  <a:pt x="1203264" y="0"/>
                </a:lnTo>
                <a:lnTo>
                  <a:pt x="1203264"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3875433" y="4478000"/>
            <a:ext cx="10362863" cy="6197674"/>
          </a:xfrm>
          <a:prstGeom prst="rect">
            <a:avLst/>
          </a:prstGeom>
        </p:spPr>
        <p:txBody>
          <a:bodyPr anchor="t" rtlCol="false" tIns="0" lIns="0" bIns="0" rIns="0">
            <a:spAutoFit/>
          </a:bodyPr>
          <a:lstStyle/>
          <a:p>
            <a:pPr algn="just" marL="582945" indent="-291473" lvl="1">
              <a:lnSpc>
                <a:spcPts val="3780"/>
              </a:lnSpc>
              <a:buFont typeface="Arial"/>
              <a:buChar char="•"/>
            </a:pPr>
            <a:r>
              <a:rPr lang="en-US" sz="2700">
                <a:solidFill>
                  <a:srgbClr val="F5EFEB"/>
                </a:solidFill>
                <a:latin typeface="Cloud"/>
                <a:ea typeface="Cloud"/>
                <a:cs typeface="Cloud"/>
                <a:sym typeface="Cloud"/>
              </a:rPr>
              <a:t>Develop a real-time geospatial matching system for food redistribution</a:t>
            </a:r>
          </a:p>
          <a:p>
            <a:pPr algn="just" marL="582945" indent="-291473" lvl="1">
              <a:lnSpc>
                <a:spcPts val="3780"/>
              </a:lnSpc>
              <a:buFont typeface="Arial"/>
              <a:buChar char="•"/>
            </a:pPr>
            <a:r>
              <a:rPr lang="en-US" sz="2700">
                <a:solidFill>
                  <a:srgbClr val="F5EFEB"/>
                </a:solidFill>
                <a:latin typeface="Cloud"/>
                <a:ea typeface="Cloud"/>
                <a:cs typeface="Cloud"/>
                <a:sym typeface="Cloud"/>
              </a:rPr>
              <a:t>Reduce food wastage through efficient allocation</a:t>
            </a:r>
          </a:p>
          <a:p>
            <a:pPr algn="just" marL="582945" indent="-291473" lvl="1">
              <a:lnSpc>
                <a:spcPts val="3780"/>
              </a:lnSpc>
              <a:buFont typeface="Arial"/>
              <a:buChar char="•"/>
            </a:pPr>
            <a:r>
              <a:rPr lang="en-US" sz="2700">
                <a:solidFill>
                  <a:srgbClr val="F5EFEB"/>
                </a:solidFill>
                <a:latin typeface="Cloud"/>
                <a:ea typeface="Cloud"/>
                <a:cs typeface="Cloud"/>
                <a:sym typeface="Cloud"/>
              </a:rPr>
              <a:t>Enable quick and automated coordination between donors and NGOs</a:t>
            </a:r>
          </a:p>
          <a:p>
            <a:pPr algn="just" marL="582945" indent="-291473" lvl="1">
              <a:lnSpc>
                <a:spcPts val="3780"/>
              </a:lnSpc>
              <a:buFont typeface="Arial"/>
              <a:buChar char="•"/>
            </a:pPr>
            <a:r>
              <a:rPr lang="en-US" sz="2700">
                <a:solidFill>
                  <a:srgbClr val="F5EFEB"/>
                </a:solidFill>
                <a:latin typeface="Cloud"/>
                <a:ea typeface="Cloud"/>
                <a:cs typeface="Cloud"/>
                <a:sym typeface="Cloud"/>
              </a:rPr>
              <a:t>Implement distance and expiry-based prioritization for optimal matching</a:t>
            </a:r>
          </a:p>
          <a:p>
            <a:pPr algn="just" marL="582945" indent="-291473" lvl="1">
              <a:lnSpc>
                <a:spcPts val="3780"/>
              </a:lnSpc>
              <a:buFont typeface="Arial"/>
              <a:buChar char="•"/>
            </a:pPr>
            <a:r>
              <a:rPr lang="en-US" sz="2700">
                <a:solidFill>
                  <a:srgbClr val="F5EFEB"/>
                </a:solidFill>
                <a:latin typeface="Cloud"/>
                <a:ea typeface="Cloud"/>
                <a:cs typeface="Cloud"/>
                <a:sym typeface="Cloud"/>
              </a:rPr>
              <a:t>Provide an interactive map interface for visualization and claiming</a:t>
            </a:r>
          </a:p>
          <a:p>
            <a:pPr algn="just" marL="582945" indent="-291473" lvl="1">
              <a:lnSpc>
                <a:spcPts val="3780"/>
              </a:lnSpc>
              <a:buFont typeface="Arial"/>
              <a:buChar char="•"/>
            </a:pPr>
            <a:r>
              <a:rPr lang="en-US" sz="2700">
                <a:solidFill>
                  <a:srgbClr val="F5EFEB"/>
                </a:solidFill>
                <a:latin typeface="Cloud"/>
                <a:ea typeface="Cloud"/>
                <a:cs typeface="Cloud"/>
                <a:sym typeface="Cloud"/>
              </a:rPr>
              <a:t>Ensure secure user authentication and data handling</a:t>
            </a:r>
          </a:p>
          <a:p>
            <a:pPr algn="just" marL="582945" indent="-291473" lvl="1">
              <a:lnSpc>
                <a:spcPts val="3780"/>
              </a:lnSpc>
              <a:buFont typeface="Arial"/>
              <a:buChar char="•"/>
            </a:pPr>
            <a:r>
              <a:rPr lang="en-US" sz="2700">
                <a:solidFill>
                  <a:srgbClr val="F5EFEB"/>
                </a:solidFill>
                <a:latin typeface="Cloud"/>
                <a:ea typeface="Cloud"/>
                <a:cs typeface="Cloud"/>
                <a:sym typeface="Cloud"/>
              </a:rPr>
              <a:t>Design a scalable system supporting multiple users simultaneously</a:t>
            </a:r>
          </a:p>
          <a:p>
            <a:pPr algn="just">
              <a:lnSpc>
                <a:spcPts val="3780"/>
              </a:lnSpc>
              <a:spcBef>
                <a:spcPct val="0"/>
              </a:spcBef>
            </a:pPr>
          </a:p>
        </p:txBody>
      </p:sp>
      <p:sp>
        <p:nvSpPr>
          <p:cNvPr name="TextBox 14" id="14"/>
          <p:cNvSpPr txBox="true"/>
          <p:nvPr/>
        </p:nvSpPr>
        <p:spPr>
          <a:xfrm rot="0">
            <a:off x="5984174" y="873367"/>
            <a:ext cx="6319652" cy="133350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Objectives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false" rot="0">
            <a:off x="-1299808" y="-422828"/>
            <a:ext cx="6902127" cy="4998345"/>
          </a:xfrm>
          <a:custGeom>
            <a:avLst/>
            <a:gdLst/>
            <a:ahLst/>
            <a:cxnLst/>
            <a:rect r="r" b="b" t="t" l="l"/>
            <a:pathLst>
              <a:path h="4998345" w="6902127">
                <a:moveTo>
                  <a:pt x="0" y="0"/>
                </a:moveTo>
                <a:lnTo>
                  <a:pt x="6902126" y="0"/>
                </a:lnTo>
                <a:lnTo>
                  <a:pt x="6902126" y="4998345"/>
                </a:lnTo>
                <a:lnTo>
                  <a:pt x="0" y="4998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191268">
            <a:off x="1028102" y="3836999"/>
            <a:ext cx="2777650" cy="482617"/>
          </a:xfrm>
          <a:custGeom>
            <a:avLst/>
            <a:gdLst/>
            <a:ahLst/>
            <a:cxnLst/>
            <a:rect r="r" b="b" t="t" l="l"/>
            <a:pathLst>
              <a:path h="482617" w="2777650">
                <a:moveTo>
                  <a:pt x="0" y="0"/>
                </a:moveTo>
                <a:lnTo>
                  <a:pt x="2777650" y="0"/>
                </a:lnTo>
                <a:lnTo>
                  <a:pt x="2777650" y="482616"/>
                </a:lnTo>
                <a:lnTo>
                  <a:pt x="0" y="482616"/>
                </a:lnTo>
                <a:lnTo>
                  <a:pt x="0" y="0"/>
                </a:lnTo>
                <a:close/>
              </a:path>
            </a:pathLst>
          </a:custGeom>
          <a:blipFill>
            <a:blip r:embed="rId4"/>
            <a:stretch>
              <a:fillRect l="0" t="0" r="0" b="0"/>
            </a:stretch>
          </a:blipFill>
        </p:spPr>
      </p:sp>
      <p:sp>
        <p:nvSpPr>
          <p:cNvPr name="Freeform 4" id="4"/>
          <p:cNvSpPr/>
          <p:nvPr/>
        </p:nvSpPr>
        <p:spPr>
          <a:xfrm flipH="false" flipV="false" rot="1194000">
            <a:off x="3309337" y="3837971"/>
            <a:ext cx="2777650" cy="482617"/>
          </a:xfrm>
          <a:custGeom>
            <a:avLst/>
            <a:gdLst/>
            <a:ahLst/>
            <a:cxnLst/>
            <a:rect r="r" b="b" t="t" l="l"/>
            <a:pathLst>
              <a:path h="482617" w="2777650">
                <a:moveTo>
                  <a:pt x="0" y="0"/>
                </a:moveTo>
                <a:lnTo>
                  <a:pt x="2777650" y="0"/>
                </a:lnTo>
                <a:lnTo>
                  <a:pt x="2777650" y="482617"/>
                </a:lnTo>
                <a:lnTo>
                  <a:pt x="0" y="482617"/>
                </a:lnTo>
                <a:lnTo>
                  <a:pt x="0" y="0"/>
                </a:lnTo>
                <a:close/>
              </a:path>
            </a:pathLst>
          </a:custGeom>
          <a:blipFill>
            <a:blip r:embed="rId4"/>
            <a:stretch>
              <a:fillRect l="0" t="0" r="0" b="0"/>
            </a:stretch>
          </a:blipFill>
        </p:spPr>
      </p:sp>
      <p:grpSp>
        <p:nvGrpSpPr>
          <p:cNvPr name="Group 5" id="5"/>
          <p:cNvGrpSpPr/>
          <p:nvPr/>
        </p:nvGrpSpPr>
        <p:grpSpPr>
          <a:xfrm rot="-10800000">
            <a:off x="963245" y="3600450"/>
            <a:ext cx="5223867" cy="7482167"/>
            <a:chOff x="0" y="0"/>
            <a:chExt cx="635000" cy="909513"/>
          </a:xfrm>
        </p:grpSpPr>
        <p:sp>
          <p:nvSpPr>
            <p:cNvPr name="Freeform 6" id="6"/>
            <p:cNvSpPr/>
            <p:nvPr/>
          </p:nvSpPr>
          <p:spPr>
            <a:xfrm flipH="false" flipV="false" rot="0">
              <a:off x="0" y="0"/>
              <a:ext cx="635000" cy="909513"/>
            </a:xfrm>
            <a:custGeom>
              <a:avLst/>
              <a:gdLst/>
              <a:ahLst/>
              <a:cxnLst/>
              <a:rect r="r" b="b" t="t" l="l"/>
              <a:pathLst>
                <a:path h="909513" w="635000">
                  <a:moveTo>
                    <a:pt x="635000" y="0"/>
                  </a:moveTo>
                  <a:lnTo>
                    <a:pt x="635000" y="795213"/>
                  </a:lnTo>
                  <a:lnTo>
                    <a:pt x="317500" y="909513"/>
                  </a:lnTo>
                  <a:lnTo>
                    <a:pt x="0" y="795213"/>
                  </a:lnTo>
                  <a:lnTo>
                    <a:pt x="0" y="0"/>
                  </a:lnTo>
                  <a:lnTo>
                    <a:pt x="635000" y="0"/>
                  </a:lnTo>
                  <a:close/>
                </a:path>
              </a:pathLst>
            </a:custGeom>
            <a:solidFill>
              <a:srgbClr val="2F4156"/>
            </a:solidFill>
          </p:spPr>
        </p:sp>
        <p:sp>
          <p:nvSpPr>
            <p:cNvPr name="TextBox 7" id="7"/>
            <p:cNvSpPr txBox="true"/>
            <p:nvPr/>
          </p:nvSpPr>
          <p:spPr>
            <a:xfrm>
              <a:off x="0" y="-47625"/>
              <a:ext cx="635000" cy="842838"/>
            </a:xfrm>
            <a:prstGeom prst="rect">
              <a:avLst/>
            </a:prstGeom>
          </p:spPr>
          <p:txBody>
            <a:bodyPr anchor="ctr" rtlCol="false" tIns="50800" lIns="50800" bIns="50800" rIns="50800"/>
            <a:lstStyle/>
            <a:p>
              <a:pPr algn="ctr">
                <a:lnSpc>
                  <a:spcPts val="2935"/>
                </a:lnSpc>
              </a:pPr>
            </a:p>
          </p:txBody>
        </p:sp>
      </p:grpSp>
      <p:sp>
        <p:nvSpPr>
          <p:cNvPr name="Freeform 8" id="8"/>
          <p:cNvSpPr/>
          <p:nvPr/>
        </p:nvSpPr>
        <p:spPr>
          <a:xfrm flipH="false" flipV="false" rot="-1191268">
            <a:off x="6616812" y="3836999"/>
            <a:ext cx="2777650" cy="482617"/>
          </a:xfrm>
          <a:custGeom>
            <a:avLst/>
            <a:gdLst/>
            <a:ahLst/>
            <a:cxnLst/>
            <a:rect r="r" b="b" t="t" l="l"/>
            <a:pathLst>
              <a:path h="482617" w="2777650">
                <a:moveTo>
                  <a:pt x="0" y="0"/>
                </a:moveTo>
                <a:lnTo>
                  <a:pt x="2777650" y="0"/>
                </a:lnTo>
                <a:lnTo>
                  <a:pt x="2777650" y="482616"/>
                </a:lnTo>
                <a:lnTo>
                  <a:pt x="0" y="482616"/>
                </a:lnTo>
                <a:lnTo>
                  <a:pt x="0" y="0"/>
                </a:lnTo>
                <a:close/>
              </a:path>
            </a:pathLst>
          </a:custGeom>
          <a:blipFill>
            <a:blip r:embed="rId4"/>
            <a:stretch>
              <a:fillRect l="0" t="0" r="0" b="0"/>
            </a:stretch>
          </a:blipFill>
        </p:spPr>
      </p:sp>
      <p:sp>
        <p:nvSpPr>
          <p:cNvPr name="Freeform 9" id="9"/>
          <p:cNvSpPr/>
          <p:nvPr/>
        </p:nvSpPr>
        <p:spPr>
          <a:xfrm flipH="false" flipV="false" rot="1194000">
            <a:off x="8898047" y="3837971"/>
            <a:ext cx="2777650" cy="482617"/>
          </a:xfrm>
          <a:custGeom>
            <a:avLst/>
            <a:gdLst/>
            <a:ahLst/>
            <a:cxnLst/>
            <a:rect r="r" b="b" t="t" l="l"/>
            <a:pathLst>
              <a:path h="482617" w="2777650">
                <a:moveTo>
                  <a:pt x="0" y="0"/>
                </a:moveTo>
                <a:lnTo>
                  <a:pt x="2777650" y="0"/>
                </a:lnTo>
                <a:lnTo>
                  <a:pt x="2777650" y="482617"/>
                </a:lnTo>
                <a:lnTo>
                  <a:pt x="0" y="482617"/>
                </a:lnTo>
                <a:lnTo>
                  <a:pt x="0" y="0"/>
                </a:lnTo>
                <a:close/>
              </a:path>
            </a:pathLst>
          </a:custGeom>
          <a:blipFill>
            <a:blip r:embed="rId4"/>
            <a:stretch>
              <a:fillRect l="0" t="0" r="0" b="0"/>
            </a:stretch>
          </a:blipFill>
        </p:spPr>
      </p:sp>
      <p:grpSp>
        <p:nvGrpSpPr>
          <p:cNvPr name="Group 10" id="10"/>
          <p:cNvGrpSpPr/>
          <p:nvPr/>
        </p:nvGrpSpPr>
        <p:grpSpPr>
          <a:xfrm rot="-10800000">
            <a:off x="6551955" y="3600450"/>
            <a:ext cx="5223867" cy="7482167"/>
            <a:chOff x="0" y="0"/>
            <a:chExt cx="635000" cy="909513"/>
          </a:xfrm>
        </p:grpSpPr>
        <p:sp>
          <p:nvSpPr>
            <p:cNvPr name="Freeform 11" id="11"/>
            <p:cNvSpPr/>
            <p:nvPr/>
          </p:nvSpPr>
          <p:spPr>
            <a:xfrm flipH="false" flipV="false" rot="0">
              <a:off x="0" y="0"/>
              <a:ext cx="635000" cy="909513"/>
            </a:xfrm>
            <a:custGeom>
              <a:avLst/>
              <a:gdLst/>
              <a:ahLst/>
              <a:cxnLst/>
              <a:rect r="r" b="b" t="t" l="l"/>
              <a:pathLst>
                <a:path h="909513" w="635000">
                  <a:moveTo>
                    <a:pt x="635000" y="0"/>
                  </a:moveTo>
                  <a:lnTo>
                    <a:pt x="635000" y="795213"/>
                  </a:lnTo>
                  <a:lnTo>
                    <a:pt x="317500" y="909513"/>
                  </a:lnTo>
                  <a:lnTo>
                    <a:pt x="0" y="795213"/>
                  </a:lnTo>
                  <a:lnTo>
                    <a:pt x="0" y="0"/>
                  </a:lnTo>
                  <a:lnTo>
                    <a:pt x="635000" y="0"/>
                  </a:lnTo>
                  <a:close/>
                </a:path>
              </a:pathLst>
            </a:custGeom>
            <a:solidFill>
              <a:srgbClr val="2F4156"/>
            </a:solidFill>
          </p:spPr>
        </p:sp>
        <p:sp>
          <p:nvSpPr>
            <p:cNvPr name="TextBox 12" id="12"/>
            <p:cNvSpPr txBox="true"/>
            <p:nvPr/>
          </p:nvSpPr>
          <p:spPr>
            <a:xfrm>
              <a:off x="0" y="-47625"/>
              <a:ext cx="635000" cy="842838"/>
            </a:xfrm>
            <a:prstGeom prst="rect">
              <a:avLst/>
            </a:prstGeom>
          </p:spPr>
          <p:txBody>
            <a:bodyPr anchor="ctr" rtlCol="false" tIns="50800" lIns="50800" bIns="50800" rIns="50800"/>
            <a:lstStyle/>
            <a:p>
              <a:pPr algn="ctr">
                <a:lnSpc>
                  <a:spcPts val="2935"/>
                </a:lnSpc>
              </a:pPr>
            </a:p>
          </p:txBody>
        </p:sp>
      </p:grpSp>
      <p:sp>
        <p:nvSpPr>
          <p:cNvPr name="Freeform 13" id="13"/>
          <p:cNvSpPr/>
          <p:nvPr/>
        </p:nvSpPr>
        <p:spPr>
          <a:xfrm flipH="false" flipV="true" rot="0">
            <a:off x="14230472" y="6529567"/>
            <a:ext cx="4402996" cy="4114800"/>
          </a:xfrm>
          <a:custGeom>
            <a:avLst/>
            <a:gdLst/>
            <a:ahLst/>
            <a:cxnLst/>
            <a:rect r="r" b="b" t="t" l="l"/>
            <a:pathLst>
              <a:path h="4114800" w="4402996">
                <a:moveTo>
                  <a:pt x="0" y="4114800"/>
                </a:moveTo>
                <a:lnTo>
                  <a:pt x="4402996" y="4114800"/>
                </a:lnTo>
                <a:lnTo>
                  <a:pt x="4402996"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1191268">
            <a:off x="12205521" y="3836999"/>
            <a:ext cx="2777650" cy="482617"/>
          </a:xfrm>
          <a:custGeom>
            <a:avLst/>
            <a:gdLst/>
            <a:ahLst/>
            <a:cxnLst/>
            <a:rect r="r" b="b" t="t" l="l"/>
            <a:pathLst>
              <a:path h="482617" w="2777650">
                <a:moveTo>
                  <a:pt x="0" y="0"/>
                </a:moveTo>
                <a:lnTo>
                  <a:pt x="2777650" y="0"/>
                </a:lnTo>
                <a:lnTo>
                  <a:pt x="2777650" y="482616"/>
                </a:lnTo>
                <a:lnTo>
                  <a:pt x="0" y="482616"/>
                </a:lnTo>
                <a:lnTo>
                  <a:pt x="0" y="0"/>
                </a:lnTo>
                <a:close/>
              </a:path>
            </a:pathLst>
          </a:custGeom>
          <a:blipFill>
            <a:blip r:embed="rId4"/>
            <a:stretch>
              <a:fillRect l="0" t="0" r="0" b="0"/>
            </a:stretch>
          </a:blipFill>
        </p:spPr>
      </p:sp>
      <p:sp>
        <p:nvSpPr>
          <p:cNvPr name="Freeform 15" id="15"/>
          <p:cNvSpPr/>
          <p:nvPr/>
        </p:nvSpPr>
        <p:spPr>
          <a:xfrm flipH="false" flipV="false" rot="1194000">
            <a:off x="14486756" y="3837971"/>
            <a:ext cx="2777650" cy="482617"/>
          </a:xfrm>
          <a:custGeom>
            <a:avLst/>
            <a:gdLst/>
            <a:ahLst/>
            <a:cxnLst/>
            <a:rect r="r" b="b" t="t" l="l"/>
            <a:pathLst>
              <a:path h="482617" w="2777650">
                <a:moveTo>
                  <a:pt x="0" y="0"/>
                </a:moveTo>
                <a:lnTo>
                  <a:pt x="2777650" y="0"/>
                </a:lnTo>
                <a:lnTo>
                  <a:pt x="2777650" y="482617"/>
                </a:lnTo>
                <a:lnTo>
                  <a:pt x="0" y="482617"/>
                </a:lnTo>
                <a:lnTo>
                  <a:pt x="0" y="0"/>
                </a:lnTo>
                <a:close/>
              </a:path>
            </a:pathLst>
          </a:custGeom>
          <a:blipFill>
            <a:blip r:embed="rId4"/>
            <a:stretch>
              <a:fillRect l="0" t="0" r="0" b="0"/>
            </a:stretch>
          </a:blipFill>
        </p:spPr>
      </p:sp>
      <p:grpSp>
        <p:nvGrpSpPr>
          <p:cNvPr name="Group 16" id="16"/>
          <p:cNvGrpSpPr/>
          <p:nvPr/>
        </p:nvGrpSpPr>
        <p:grpSpPr>
          <a:xfrm rot="-10800000">
            <a:off x="12140665" y="3600450"/>
            <a:ext cx="5223867" cy="7482167"/>
            <a:chOff x="0" y="0"/>
            <a:chExt cx="635000" cy="909513"/>
          </a:xfrm>
        </p:grpSpPr>
        <p:sp>
          <p:nvSpPr>
            <p:cNvPr name="Freeform 17" id="17"/>
            <p:cNvSpPr/>
            <p:nvPr/>
          </p:nvSpPr>
          <p:spPr>
            <a:xfrm flipH="false" flipV="false" rot="0">
              <a:off x="0" y="0"/>
              <a:ext cx="635000" cy="909513"/>
            </a:xfrm>
            <a:custGeom>
              <a:avLst/>
              <a:gdLst/>
              <a:ahLst/>
              <a:cxnLst/>
              <a:rect r="r" b="b" t="t" l="l"/>
              <a:pathLst>
                <a:path h="909513" w="635000">
                  <a:moveTo>
                    <a:pt x="635000" y="0"/>
                  </a:moveTo>
                  <a:lnTo>
                    <a:pt x="635000" y="795213"/>
                  </a:lnTo>
                  <a:lnTo>
                    <a:pt x="317500" y="909513"/>
                  </a:lnTo>
                  <a:lnTo>
                    <a:pt x="0" y="795213"/>
                  </a:lnTo>
                  <a:lnTo>
                    <a:pt x="0" y="0"/>
                  </a:lnTo>
                  <a:lnTo>
                    <a:pt x="635000" y="0"/>
                  </a:lnTo>
                  <a:close/>
                </a:path>
              </a:pathLst>
            </a:custGeom>
            <a:solidFill>
              <a:srgbClr val="2F4156"/>
            </a:solidFill>
          </p:spPr>
        </p:sp>
        <p:sp>
          <p:nvSpPr>
            <p:cNvPr name="TextBox 18" id="18"/>
            <p:cNvSpPr txBox="true"/>
            <p:nvPr/>
          </p:nvSpPr>
          <p:spPr>
            <a:xfrm>
              <a:off x="0" y="-47625"/>
              <a:ext cx="635000" cy="842838"/>
            </a:xfrm>
            <a:prstGeom prst="rect">
              <a:avLst/>
            </a:prstGeom>
          </p:spPr>
          <p:txBody>
            <a:bodyPr anchor="ctr" rtlCol="false" tIns="50800" lIns="50800" bIns="50800" rIns="50800"/>
            <a:lstStyle/>
            <a:p>
              <a:pPr algn="ctr">
                <a:lnSpc>
                  <a:spcPts val="2935"/>
                </a:lnSpc>
              </a:pPr>
            </a:p>
          </p:txBody>
        </p:sp>
      </p:grpSp>
      <p:sp>
        <p:nvSpPr>
          <p:cNvPr name="TextBox 19" id="19"/>
          <p:cNvSpPr txBox="true"/>
          <p:nvPr/>
        </p:nvSpPr>
        <p:spPr>
          <a:xfrm rot="0">
            <a:off x="12537654" y="4775542"/>
            <a:ext cx="4429888" cy="4948555"/>
          </a:xfrm>
          <a:prstGeom prst="rect">
            <a:avLst/>
          </a:prstGeom>
        </p:spPr>
        <p:txBody>
          <a:bodyPr anchor="t" rtlCol="false" tIns="0" lIns="0" bIns="0" rIns="0">
            <a:spAutoFit/>
          </a:bodyPr>
          <a:lstStyle/>
          <a:p>
            <a:pPr algn="just">
              <a:lnSpc>
                <a:spcPts val="3919"/>
              </a:lnSpc>
              <a:spcBef>
                <a:spcPct val="0"/>
              </a:spcBef>
            </a:pPr>
            <a:r>
              <a:rPr lang="en-US" sz="2799">
                <a:solidFill>
                  <a:srgbClr val="F5EFEB"/>
                </a:solidFill>
                <a:latin typeface="Cloud"/>
                <a:ea typeface="Cloud"/>
                <a:cs typeface="Cloud"/>
                <a:sym typeface="Cloud"/>
              </a:rPr>
              <a:t>Matched results are shown on a map, allowing NGOs to view and claim donations. The system verifies claims and updates status in real time for smooth coordination.</a:t>
            </a:r>
          </a:p>
          <a:p>
            <a:pPr algn="just">
              <a:lnSpc>
                <a:spcPts val="3919"/>
              </a:lnSpc>
              <a:spcBef>
                <a:spcPct val="0"/>
              </a:spcBef>
            </a:pPr>
          </a:p>
          <a:p>
            <a:pPr algn="just">
              <a:lnSpc>
                <a:spcPts val="3919"/>
              </a:lnSpc>
              <a:spcBef>
                <a:spcPct val="0"/>
              </a:spcBef>
            </a:pPr>
          </a:p>
          <a:p>
            <a:pPr algn="just">
              <a:lnSpc>
                <a:spcPts val="3919"/>
              </a:lnSpc>
              <a:spcBef>
                <a:spcPct val="0"/>
              </a:spcBef>
            </a:pPr>
          </a:p>
        </p:txBody>
      </p:sp>
      <p:sp>
        <p:nvSpPr>
          <p:cNvPr name="TextBox 20" id="20"/>
          <p:cNvSpPr txBox="true"/>
          <p:nvPr/>
        </p:nvSpPr>
        <p:spPr>
          <a:xfrm rot="0">
            <a:off x="12718638" y="2313103"/>
            <a:ext cx="4067920" cy="800100"/>
          </a:xfrm>
          <a:prstGeom prst="rect">
            <a:avLst/>
          </a:prstGeom>
        </p:spPr>
        <p:txBody>
          <a:bodyPr anchor="t" rtlCol="false" tIns="0" lIns="0" bIns="0" rIns="0">
            <a:spAutoFit/>
          </a:bodyPr>
          <a:lstStyle/>
          <a:p>
            <a:pPr algn="ctr">
              <a:lnSpc>
                <a:spcPts val="3000"/>
              </a:lnSpc>
            </a:pPr>
            <a:r>
              <a:rPr lang="en-US" b="true" sz="3000">
                <a:solidFill>
                  <a:srgbClr val="2F4156"/>
                </a:solidFill>
                <a:latin typeface="Cloud Bold"/>
                <a:ea typeface="Cloud Bold"/>
                <a:cs typeface="Cloud Bold"/>
                <a:sym typeface="Cloud Bold"/>
              </a:rPr>
              <a:t>Visualization and Execution</a:t>
            </a:r>
          </a:p>
        </p:txBody>
      </p:sp>
      <p:sp>
        <p:nvSpPr>
          <p:cNvPr name="TextBox 21" id="21"/>
          <p:cNvSpPr txBox="true"/>
          <p:nvPr/>
        </p:nvSpPr>
        <p:spPr>
          <a:xfrm rot="0">
            <a:off x="6948944" y="4775542"/>
            <a:ext cx="4429888" cy="3462655"/>
          </a:xfrm>
          <a:prstGeom prst="rect">
            <a:avLst/>
          </a:prstGeom>
        </p:spPr>
        <p:txBody>
          <a:bodyPr anchor="t" rtlCol="false" tIns="0" lIns="0" bIns="0" rIns="0">
            <a:spAutoFit/>
          </a:bodyPr>
          <a:lstStyle/>
          <a:p>
            <a:pPr algn="just">
              <a:lnSpc>
                <a:spcPts val="3919"/>
              </a:lnSpc>
              <a:spcBef>
                <a:spcPct val="0"/>
              </a:spcBef>
            </a:pPr>
            <a:r>
              <a:rPr lang="en-US" sz="2799">
                <a:solidFill>
                  <a:srgbClr val="F5EFEB"/>
                </a:solidFill>
                <a:latin typeface="Cloud"/>
                <a:ea typeface="Cloud"/>
                <a:cs typeface="Cloud"/>
                <a:sym typeface="Cloud"/>
              </a:rPr>
              <a:t>The system identifies nearby NGOs using location data and applies a scoring mechanism based on distance and expiry to select the best match.</a:t>
            </a:r>
          </a:p>
          <a:p>
            <a:pPr algn="just">
              <a:lnSpc>
                <a:spcPts val="3919"/>
              </a:lnSpc>
              <a:spcBef>
                <a:spcPct val="0"/>
              </a:spcBef>
            </a:pPr>
          </a:p>
        </p:txBody>
      </p:sp>
      <p:sp>
        <p:nvSpPr>
          <p:cNvPr name="TextBox 22" id="22"/>
          <p:cNvSpPr txBox="true"/>
          <p:nvPr/>
        </p:nvSpPr>
        <p:spPr>
          <a:xfrm rot="0">
            <a:off x="6948944" y="2313103"/>
            <a:ext cx="4067920" cy="800100"/>
          </a:xfrm>
          <a:prstGeom prst="rect">
            <a:avLst/>
          </a:prstGeom>
        </p:spPr>
        <p:txBody>
          <a:bodyPr anchor="t" rtlCol="false" tIns="0" lIns="0" bIns="0" rIns="0">
            <a:spAutoFit/>
          </a:bodyPr>
          <a:lstStyle/>
          <a:p>
            <a:pPr algn="ctr">
              <a:lnSpc>
                <a:spcPts val="3000"/>
              </a:lnSpc>
            </a:pPr>
            <a:r>
              <a:rPr lang="en-US" b="true" sz="3000">
                <a:solidFill>
                  <a:srgbClr val="2F4156"/>
                </a:solidFill>
                <a:latin typeface="Cloud Bold"/>
                <a:ea typeface="Cloud Bold"/>
                <a:cs typeface="Cloud Bold"/>
                <a:sym typeface="Cloud Bold"/>
              </a:rPr>
              <a:t>Geospatial Matching and Decision Logic</a:t>
            </a:r>
          </a:p>
        </p:txBody>
      </p:sp>
      <p:sp>
        <p:nvSpPr>
          <p:cNvPr name="TextBox 23" id="23"/>
          <p:cNvSpPr txBox="true"/>
          <p:nvPr/>
        </p:nvSpPr>
        <p:spPr>
          <a:xfrm rot="0">
            <a:off x="1360235" y="4775542"/>
            <a:ext cx="4429888" cy="4453255"/>
          </a:xfrm>
          <a:prstGeom prst="rect">
            <a:avLst/>
          </a:prstGeom>
        </p:spPr>
        <p:txBody>
          <a:bodyPr anchor="t" rtlCol="false" tIns="0" lIns="0" bIns="0" rIns="0">
            <a:spAutoFit/>
          </a:bodyPr>
          <a:lstStyle/>
          <a:p>
            <a:pPr algn="just">
              <a:lnSpc>
                <a:spcPts val="3919"/>
              </a:lnSpc>
              <a:spcBef>
                <a:spcPct val="0"/>
              </a:spcBef>
            </a:pPr>
            <a:r>
              <a:rPr lang="en-US" sz="2799">
                <a:solidFill>
                  <a:srgbClr val="F5EFEB"/>
                </a:solidFill>
                <a:latin typeface="Cloud"/>
                <a:ea typeface="Cloud"/>
                <a:cs typeface="Cloud"/>
                <a:sym typeface="Cloud"/>
              </a:rPr>
              <a:t>Users register and log in, and donors submit food details like quantity, location, and expiry. The system converts addresses into coordinates using geocoding and stores the data for processing.</a:t>
            </a:r>
          </a:p>
          <a:p>
            <a:pPr algn="just">
              <a:lnSpc>
                <a:spcPts val="3919"/>
              </a:lnSpc>
              <a:spcBef>
                <a:spcPct val="0"/>
              </a:spcBef>
            </a:pPr>
          </a:p>
        </p:txBody>
      </p:sp>
      <p:sp>
        <p:nvSpPr>
          <p:cNvPr name="TextBox 24" id="24"/>
          <p:cNvSpPr txBox="true"/>
          <p:nvPr/>
        </p:nvSpPr>
        <p:spPr>
          <a:xfrm rot="0">
            <a:off x="1360235" y="2313103"/>
            <a:ext cx="4067920" cy="800100"/>
          </a:xfrm>
          <a:prstGeom prst="rect">
            <a:avLst/>
          </a:prstGeom>
        </p:spPr>
        <p:txBody>
          <a:bodyPr anchor="t" rtlCol="false" tIns="0" lIns="0" bIns="0" rIns="0">
            <a:spAutoFit/>
          </a:bodyPr>
          <a:lstStyle/>
          <a:p>
            <a:pPr algn="ctr">
              <a:lnSpc>
                <a:spcPts val="3000"/>
              </a:lnSpc>
            </a:pPr>
            <a:r>
              <a:rPr lang="en-US" b="true" sz="3000">
                <a:solidFill>
                  <a:srgbClr val="2F4156"/>
                </a:solidFill>
                <a:latin typeface="Cloud Bold"/>
                <a:ea typeface="Cloud Bold"/>
                <a:cs typeface="Cloud Bold"/>
                <a:sym typeface="Cloud Bold"/>
              </a:rPr>
              <a:t>Data Input and Processing</a:t>
            </a:r>
          </a:p>
        </p:txBody>
      </p:sp>
      <p:sp>
        <p:nvSpPr>
          <p:cNvPr name="TextBox 25" id="25"/>
          <p:cNvSpPr txBox="true"/>
          <p:nvPr/>
        </p:nvSpPr>
        <p:spPr>
          <a:xfrm rot="0">
            <a:off x="5790123" y="232470"/>
            <a:ext cx="6932640" cy="1316236"/>
          </a:xfrm>
          <a:prstGeom prst="rect">
            <a:avLst/>
          </a:prstGeom>
        </p:spPr>
        <p:txBody>
          <a:bodyPr anchor="t" rtlCol="false" tIns="0" lIns="0" bIns="0" rIns="0">
            <a:spAutoFit/>
          </a:bodyPr>
          <a:lstStyle/>
          <a:p>
            <a:pPr algn="ctr">
              <a:lnSpc>
                <a:spcPts val="9601"/>
              </a:lnSpc>
            </a:pPr>
            <a:r>
              <a:rPr lang="en-US" sz="6858" b="true">
                <a:solidFill>
                  <a:srgbClr val="2F4156"/>
                </a:solidFill>
                <a:latin typeface="Clarendon Narrow Bold"/>
                <a:ea typeface="Clarendon Narrow Bold"/>
                <a:cs typeface="Clarendon Narrow Bold"/>
                <a:sym typeface="Clarendon Narrow Bold"/>
              </a:rPr>
              <a:t>Methodology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false" rot="0">
            <a:off x="-1299808" y="-422828"/>
            <a:ext cx="6902127" cy="4998345"/>
          </a:xfrm>
          <a:custGeom>
            <a:avLst/>
            <a:gdLst/>
            <a:ahLst/>
            <a:cxnLst/>
            <a:rect r="r" b="b" t="t" l="l"/>
            <a:pathLst>
              <a:path h="4998345" w="6902127">
                <a:moveTo>
                  <a:pt x="0" y="0"/>
                </a:moveTo>
                <a:lnTo>
                  <a:pt x="6902126" y="0"/>
                </a:lnTo>
                <a:lnTo>
                  <a:pt x="6902126" y="4998345"/>
                </a:lnTo>
                <a:lnTo>
                  <a:pt x="0" y="4998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716316" y="6983610"/>
            <a:ext cx="3917152" cy="3660757"/>
          </a:xfrm>
          <a:custGeom>
            <a:avLst/>
            <a:gdLst/>
            <a:ahLst/>
            <a:cxnLst/>
            <a:rect r="r" b="b" t="t" l="l"/>
            <a:pathLst>
              <a:path h="3660757" w="3917152">
                <a:moveTo>
                  <a:pt x="0" y="3660757"/>
                </a:moveTo>
                <a:lnTo>
                  <a:pt x="3917152" y="3660757"/>
                </a:lnTo>
                <a:lnTo>
                  <a:pt x="3917152" y="0"/>
                </a:lnTo>
                <a:lnTo>
                  <a:pt x="0" y="0"/>
                </a:lnTo>
                <a:lnTo>
                  <a:pt x="0" y="366075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191268">
            <a:off x="3802568" y="3836999"/>
            <a:ext cx="2777650" cy="482617"/>
          </a:xfrm>
          <a:custGeom>
            <a:avLst/>
            <a:gdLst/>
            <a:ahLst/>
            <a:cxnLst/>
            <a:rect r="r" b="b" t="t" l="l"/>
            <a:pathLst>
              <a:path h="482617" w="2777650">
                <a:moveTo>
                  <a:pt x="0" y="0"/>
                </a:moveTo>
                <a:lnTo>
                  <a:pt x="2777650" y="0"/>
                </a:lnTo>
                <a:lnTo>
                  <a:pt x="2777650" y="482616"/>
                </a:lnTo>
                <a:lnTo>
                  <a:pt x="0" y="482616"/>
                </a:lnTo>
                <a:lnTo>
                  <a:pt x="0" y="0"/>
                </a:lnTo>
                <a:close/>
              </a:path>
            </a:pathLst>
          </a:custGeom>
          <a:blipFill>
            <a:blip r:embed="rId6"/>
            <a:stretch>
              <a:fillRect l="0" t="0" r="0" b="0"/>
            </a:stretch>
          </a:blipFill>
        </p:spPr>
      </p:sp>
      <p:sp>
        <p:nvSpPr>
          <p:cNvPr name="Freeform 5" id="5"/>
          <p:cNvSpPr/>
          <p:nvPr/>
        </p:nvSpPr>
        <p:spPr>
          <a:xfrm flipH="false" flipV="false" rot="1194000">
            <a:off x="6083803" y="3837971"/>
            <a:ext cx="2777650" cy="482617"/>
          </a:xfrm>
          <a:custGeom>
            <a:avLst/>
            <a:gdLst/>
            <a:ahLst/>
            <a:cxnLst/>
            <a:rect r="r" b="b" t="t" l="l"/>
            <a:pathLst>
              <a:path h="482617" w="2777650">
                <a:moveTo>
                  <a:pt x="0" y="0"/>
                </a:moveTo>
                <a:lnTo>
                  <a:pt x="2777650" y="0"/>
                </a:lnTo>
                <a:lnTo>
                  <a:pt x="2777650" y="482617"/>
                </a:lnTo>
                <a:lnTo>
                  <a:pt x="0" y="482617"/>
                </a:lnTo>
                <a:lnTo>
                  <a:pt x="0" y="0"/>
                </a:lnTo>
                <a:close/>
              </a:path>
            </a:pathLst>
          </a:custGeom>
          <a:blipFill>
            <a:blip r:embed="rId6"/>
            <a:stretch>
              <a:fillRect l="0" t="0" r="0" b="0"/>
            </a:stretch>
          </a:blipFill>
        </p:spPr>
      </p:sp>
      <p:grpSp>
        <p:nvGrpSpPr>
          <p:cNvPr name="Group 6" id="6"/>
          <p:cNvGrpSpPr/>
          <p:nvPr/>
        </p:nvGrpSpPr>
        <p:grpSpPr>
          <a:xfrm rot="-10800000">
            <a:off x="3737712" y="3600450"/>
            <a:ext cx="5223867" cy="7482167"/>
            <a:chOff x="0" y="0"/>
            <a:chExt cx="635000" cy="909513"/>
          </a:xfrm>
        </p:grpSpPr>
        <p:sp>
          <p:nvSpPr>
            <p:cNvPr name="Freeform 7" id="7"/>
            <p:cNvSpPr/>
            <p:nvPr/>
          </p:nvSpPr>
          <p:spPr>
            <a:xfrm flipH="false" flipV="false" rot="0">
              <a:off x="0" y="0"/>
              <a:ext cx="635000" cy="909513"/>
            </a:xfrm>
            <a:custGeom>
              <a:avLst/>
              <a:gdLst/>
              <a:ahLst/>
              <a:cxnLst/>
              <a:rect r="r" b="b" t="t" l="l"/>
              <a:pathLst>
                <a:path h="909513" w="635000">
                  <a:moveTo>
                    <a:pt x="635000" y="0"/>
                  </a:moveTo>
                  <a:lnTo>
                    <a:pt x="635000" y="795213"/>
                  </a:lnTo>
                  <a:lnTo>
                    <a:pt x="317500" y="909513"/>
                  </a:lnTo>
                  <a:lnTo>
                    <a:pt x="0" y="795213"/>
                  </a:lnTo>
                  <a:lnTo>
                    <a:pt x="0" y="0"/>
                  </a:lnTo>
                  <a:lnTo>
                    <a:pt x="635000" y="0"/>
                  </a:lnTo>
                  <a:close/>
                </a:path>
              </a:pathLst>
            </a:custGeom>
            <a:solidFill>
              <a:srgbClr val="2F4156"/>
            </a:solidFill>
          </p:spPr>
        </p:sp>
        <p:sp>
          <p:nvSpPr>
            <p:cNvPr name="TextBox 8" id="8"/>
            <p:cNvSpPr txBox="true"/>
            <p:nvPr/>
          </p:nvSpPr>
          <p:spPr>
            <a:xfrm>
              <a:off x="0" y="-47625"/>
              <a:ext cx="635000" cy="842838"/>
            </a:xfrm>
            <a:prstGeom prst="rect">
              <a:avLst/>
            </a:prstGeom>
          </p:spPr>
          <p:txBody>
            <a:bodyPr anchor="ctr" rtlCol="false" tIns="50800" lIns="50800" bIns="50800" rIns="50800"/>
            <a:lstStyle/>
            <a:p>
              <a:pPr algn="ctr">
                <a:lnSpc>
                  <a:spcPts val="2935"/>
                </a:lnSpc>
              </a:pPr>
            </a:p>
          </p:txBody>
        </p:sp>
      </p:grpSp>
      <p:sp>
        <p:nvSpPr>
          <p:cNvPr name="Freeform 9" id="9"/>
          <p:cNvSpPr/>
          <p:nvPr/>
        </p:nvSpPr>
        <p:spPr>
          <a:xfrm flipH="false" flipV="false" rot="-1191268">
            <a:off x="9391278" y="3836999"/>
            <a:ext cx="2777650" cy="482617"/>
          </a:xfrm>
          <a:custGeom>
            <a:avLst/>
            <a:gdLst/>
            <a:ahLst/>
            <a:cxnLst/>
            <a:rect r="r" b="b" t="t" l="l"/>
            <a:pathLst>
              <a:path h="482617" w="2777650">
                <a:moveTo>
                  <a:pt x="0" y="0"/>
                </a:moveTo>
                <a:lnTo>
                  <a:pt x="2777650" y="0"/>
                </a:lnTo>
                <a:lnTo>
                  <a:pt x="2777650" y="482616"/>
                </a:lnTo>
                <a:lnTo>
                  <a:pt x="0" y="482616"/>
                </a:lnTo>
                <a:lnTo>
                  <a:pt x="0" y="0"/>
                </a:lnTo>
                <a:close/>
              </a:path>
            </a:pathLst>
          </a:custGeom>
          <a:blipFill>
            <a:blip r:embed="rId6"/>
            <a:stretch>
              <a:fillRect l="0" t="0" r="0" b="0"/>
            </a:stretch>
          </a:blipFill>
        </p:spPr>
      </p:sp>
      <p:sp>
        <p:nvSpPr>
          <p:cNvPr name="Freeform 10" id="10"/>
          <p:cNvSpPr/>
          <p:nvPr/>
        </p:nvSpPr>
        <p:spPr>
          <a:xfrm flipH="false" flipV="false" rot="1194000">
            <a:off x="11672513" y="3837971"/>
            <a:ext cx="2777650" cy="482617"/>
          </a:xfrm>
          <a:custGeom>
            <a:avLst/>
            <a:gdLst/>
            <a:ahLst/>
            <a:cxnLst/>
            <a:rect r="r" b="b" t="t" l="l"/>
            <a:pathLst>
              <a:path h="482617" w="2777650">
                <a:moveTo>
                  <a:pt x="0" y="0"/>
                </a:moveTo>
                <a:lnTo>
                  <a:pt x="2777650" y="0"/>
                </a:lnTo>
                <a:lnTo>
                  <a:pt x="2777650" y="482617"/>
                </a:lnTo>
                <a:lnTo>
                  <a:pt x="0" y="482617"/>
                </a:lnTo>
                <a:lnTo>
                  <a:pt x="0" y="0"/>
                </a:lnTo>
                <a:close/>
              </a:path>
            </a:pathLst>
          </a:custGeom>
          <a:blipFill>
            <a:blip r:embed="rId6"/>
            <a:stretch>
              <a:fillRect l="0" t="0" r="0" b="0"/>
            </a:stretch>
          </a:blipFill>
        </p:spPr>
      </p:sp>
      <p:grpSp>
        <p:nvGrpSpPr>
          <p:cNvPr name="Group 11" id="11"/>
          <p:cNvGrpSpPr/>
          <p:nvPr/>
        </p:nvGrpSpPr>
        <p:grpSpPr>
          <a:xfrm rot="-10800000">
            <a:off x="9326421" y="3600450"/>
            <a:ext cx="5223867" cy="7482167"/>
            <a:chOff x="0" y="0"/>
            <a:chExt cx="635000" cy="909513"/>
          </a:xfrm>
        </p:grpSpPr>
        <p:sp>
          <p:nvSpPr>
            <p:cNvPr name="Freeform 12" id="12"/>
            <p:cNvSpPr/>
            <p:nvPr/>
          </p:nvSpPr>
          <p:spPr>
            <a:xfrm flipH="false" flipV="false" rot="0">
              <a:off x="0" y="0"/>
              <a:ext cx="635000" cy="909513"/>
            </a:xfrm>
            <a:custGeom>
              <a:avLst/>
              <a:gdLst/>
              <a:ahLst/>
              <a:cxnLst/>
              <a:rect r="r" b="b" t="t" l="l"/>
              <a:pathLst>
                <a:path h="909513" w="635000">
                  <a:moveTo>
                    <a:pt x="635000" y="0"/>
                  </a:moveTo>
                  <a:lnTo>
                    <a:pt x="635000" y="795213"/>
                  </a:lnTo>
                  <a:lnTo>
                    <a:pt x="317500" y="909513"/>
                  </a:lnTo>
                  <a:lnTo>
                    <a:pt x="0" y="795213"/>
                  </a:lnTo>
                  <a:lnTo>
                    <a:pt x="0" y="0"/>
                  </a:lnTo>
                  <a:lnTo>
                    <a:pt x="635000" y="0"/>
                  </a:lnTo>
                  <a:close/>
                </a:path>
              </a:pathLst>
            </a:custGeom>
            <a:solidFill>
              <a:srgbClr val="2F4156"/>
            </a:solidFill>
          </p:spPr>
        </p:sp>
        <p:sp>
          <p:nvSpPr>
            <p:cNvPr name="TextBox 13" id="13"/>
            <p:cNvSpPr txBox="true"/>
            <p:nvPr/>
          </p:nvSpPr>
          <p:spPr>
            <a:xfrm>
              <a:off x="0" y="-47625"/>
              <a:ext cx="635000" cy="842838"/>
            </a:xfrm>
            <a:prstGeom prst="rect">
              <a:avLst/>
            </a:prstGeom>
          </p:spPr>
          <p:txBody>
            <a:bodyPr anchor="ctr" rtlCol="false" tIns="50800" lIns="50800" bIns="50800" rIns="50800"/>
            <a:lstStyle/>
            <a:p>
              <a:pPr algn="ctr">
                <a:lnSpc>
                  <a:spcPts val="2935"/>
                </a:lnSpc>
              </a:pPr>
            </a:p>
          </p:txBody>
        </p:sp>
      </p:grpSp>
      <p:sp>
        <p:nvSpPr>
          <p:cNvPr name="TextBox 14" id="14"/>
          <p:cNvSpPr txBox="true"/>
          <p:nvPr/>
        </p:nvSpPr>
        <p:spPr>
          <a:xfrm rot="0">
            <a:off x="9723411" y="4750332"/>
            <a:ext cx="4725959" cy="3161222"/>
          </a:xfrm>
          <a:prstGeom prst="rect">
            <a:avLst/>
          </a:prstGeom>
        </p:spPr>
        <p:txBody>
          <a:bodyPr anchor="t" rtlCol="false" tIns="0" lIns="0" bIns="0" rIns="0">
            <a:spAutoFit/>
          </a:bodyPr>
          <a:lstStyle/>
          <a:p>
            <a:pPr algn="just" marL="644922" indent="-322461" lvl="1">
              <a:lnSpc>
                <a:spcPts val="4181"/>
              </a:lnSpc>
              <a:buFont typeface="Arial"/>
              <a:buChar char="•"/>
            </a:pPr>
            <a:r>
              <a:rPr lang="en-US" sz="2987">
                <a:solidFill>
                  <a:srgbClr val="F5EFEB"/>
                </a:solidFill>
                <a:latin typeface="Cloud"/>
                <a:ea typeface="Cloud"/>
                <a:cs typeface="Cloud"/>
                <a:sym typeface="Cloud"/>
              </a:rPr>
              <a:t>Google Maps API</a:t>
            </a:r>
          </a:p>
          <a:p>
            <a:pPr algn="just" marL="644922" indent="-322461" lvl="1">
              <a:lnSpc>
                <a:spcPts val="4181"/>
              </a:lnSpc>
              <a:buFont typeface="Arial"/>
              <a:buChar char="•"/>
            </a:pPr>
            <a:r>
              <a:rPr lang="en-US" sz="2987">
                <a:solidFill>
                  <a:srgbClr val="F5EFEB"/>
                </a:solidFill>
                <a:latin typeface="Cloud"/>
                <a:ea typeface="Cloud"/>
                <a:cs typeface="Cloud"/>
                <a:sym typeface="Cloud"/>
              </a:rPr>
              <a:t>JWT (JSON Web Token) </a:t>
            </a:r>
          </a:p>
          <a:p>
            <a:pPr algn="just" marL="644922" indent="-322461" lvl="1">
              <a:lnSpc>
                <a:spcPts val="4181"/>
              </a:lnSpc>
              <a:buFont typeface="Arial"/>
              <a:buChar char="•"/>
            </a:pPr>
            <a:r>
              <a:rPr lang="en-US" sz="2987">
                <a:solidFill>
                  <a:srgbClr val="F5EFEB"/>
                </a:solidFill>
                <a:latin typeface="Cloud"/>
                <a:ea typeface="Cloud"/>
                <a:cs typeface="Cloud"/>
                <a:sym typeface="Cloud"/>
              </a:rPr>
              <a:t>REST APIs</a:t>
            </a:r>
          </a:p>
          <a:p>
            <a:pPr algn="just" marL="644922" indent="-322461" lvl="1">
              <a:lnSpc>
                <a:spcPts val="4181"/>
              </a:lnSpc>
              <a:buFont typeface="Arial"/>
              <a:buChar char="•"/>
            </a:pPr>
            <a:r>
              <a:rPr lang="en-US" sz="2987">
                <a:solidFill>
                  <a:srgbClr val="F5EFEB"/>
                </a:solidFill>
                <a:latin typeface="Cloud"/>
                <a:ea typeface="Cloud"/>
                <a:cs typeface="Cloud"/>
                <a:sym typeface="Cloud"/>
              </a:rPr>
              <a:t>Axios</a:t>
            </a:r>
          </a:p>
          <a:p>
            <a:pPr algn="just" marL="644922" indent="-322461" lvl="1">
              <a:lnSpc>
                <a:spcPts val="4181"/>
              </a:lnSpc>
              <a:buFont typeface="Arial"/>
              <a:buChar char="•"/>
            </a:pPr>
            <a:r>
              <a:rPr lang="en-US" sz="2987">
                <a:solidFill>
                  <a:srgbClr val="F5EFEB"/>
                </a:solidFill>
                <a:latin typeface="Cloud"/>
                <a:ea typeface="Cloud"/>
                <a:cs typeface="Cloud"/>
                <a:sym typeface="Cloud"/>
              </a:rPr>
              <a:t>Tailwind CSS</a:t>
            </a:r>
          </a:p>
          <a:p>
            <a:pPr algn="just">
              <a:lnSpc>
                <a:spcPts val="4181"/>
              </a:lnSpc>
              <a:spcBef>
                <a:spcPct val="0"/>
              </a:spcBef>
            </a:pPr>
          </a:p>
        </p:txBody>
      </p:sp>
      <p:sp>
        <p:nvSpPr>
          <p:cNvPr name="TextBox 15" id="15"/>
          <p:cNvSpPr txBox="true"/>
          <p:nvPr/>
        </p:nvSpPr>
        <p:spPr>
          <a:xfrm rot="0">
            <a:off x="9904395" y="1909411"/>
            <a:ext cx="4067920" cy="1600200"/>
          </a:xfrm>
          <a:prstGeom prst="rect">
            <a:avLst/>
          </a:prstGeom>
        </p:spPr>
        <p:txBody>
          <a:bodyPr anchor="t" rtlCol="false" tIns="0" lIns="0" bIns="0" rIns="0">
            <a:spAutoFit/>
          </a:bodyPr>
          <a:lstStyle/>
          <a:p>
            <a:pPr algn="ctr">
              <a:lnSpc>
                <a:spcPts val="4200"/>
              </a:lnSpc>
              <a:spcBef>
                <a:spcPct val="0"/>
              </a:spcBef>
            </a:pPr>
            <a:r>
              <a:rPr lang="en-US" b="true" sz="3000">
                <a:solidFill>
                  <a:srgbClr val="2F4156"/>
                </a:solidFill>
                <a:latin typeface="Cloud Bold"/>
                <a:ea typeface="Cloud Bold"/>
                <a:cs typeface="Cloud Bold"/>
                <a:sym typeface="Cloud Bold"/>
              </a:rPr>
              <a:t>Supporting Technologies &amp; Services</a:t>
            </a:r>
          </a:p>
        </p:txBody>
      </p:sp>
      <p:sp>
        <p:nvSpPr>
          <p:cNvPr name="TextBox 16" id="16"/>
          <p:cNvSpPr txBox="true"/>
          <p:nvPr/>
        </p:nvSpPr>
        <p:spPr>
          <a:xfrm rot="0">
            <a:off x="4134701" y="4750332"/>
            <a:ext cx="4429888" cy="4453255"/>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F5EFEB"/>
                </a:solidFill>
                <a:latin typeface="Cloud"/>
                <a:ea typeface="Cloud"/>
                <a:cs typeface="Cloud"/>
                <a:sym typeface="Cloud"/>
              </a:rPr>
              <a:t>MongoDB → NoSQL database </a:t>
            </a:r>
          </a:p>
          <a:p>
            <a:pPr algn="just" marL="604519" indent="-302260" lvl="1">
              <a:lnSpc>
                <a:spcPts val="3919"/>
              </a:lnSpc>
              <a:buFont typeface="Arial"/>
              <a:buChar char="•"/>
            </a:pPr>
            <a:r>
              <a:rPr lang="en-US" sz="2799">
                <a:solidFill>
                  <a:srgbClr val="F5EFEB"/>
                </a:solidFill>
                <a:latin typeface="Cloud"/>
                <a:ea typeface="Cloud"/>
                <a:cs typeface="Cloud"/>
                <a:sym typeface="Cloud"/>
              </a:rPr>
              <a:t>Express.js → Backend framework</a:t>
            </a:r>
          </a:p>
          <a:p>
            <a:pPr algn="just" marL="604519" indent="-302260" lvl="1">
              <a:lnSpc>
                <a:spcPts val="3919"/>
              </a:lnSpc>
              <a:buFont typeface="Arial"/>
              <a:buChar char="•"/>
            </a:pPr>
            <a:r>
              <a:rPr lang="en-US" sz="2799">
                <a:solidFill>
                  <a:srgbClr val="F5EFEB"/>
                </a:solidFill>
                <a:latin typeface="Cloud"/>
                <a:ea typeface="Cloud"/>
                <a:cs typeface="Cloud"/>
                <a:sym typeface="Cloud"/>
              </a:rPr>
              <a:t>React.js → Frontend </a:t>
            </a:r>
          </a:p>
          <a:p>
            <a:pPr algn="just" marL="604519" indent="-302260" lvl="1">
              <a:lnSpc>
                <a:spcPts val="3919"/>
              </a:lnSpc>
              <a:buFont typeface="Arial"/>
              <a:buChar char="•"/>
            </a:pPr>
            <a:r>
              <a:rPr lang="en-US" sz="2799">
                <a:solidFill>
                  <a:srgbClr val="F5EFEB"/>
                </a:solidFill>
                <a:latin typeface="Cloud"/>
                <a:ea typeface="Cloud"/>
                <a:cs typeface="Cloud"/>
                <a:sym typeface="Cloud"/>
              </a:rPr>
              <a:t>Node.js → Server-side runtime for handling requests</a:t>
            </a:r>
          </a:p>
          <a:p>
            <a:pPr algn="just">
              <a:lnSpc>
                <a:spcPts val="3919"/>
              </a:lnSpc>
              <a:spcBef>
                <a:spcPct val="0"/>
              </a:spcBef>
            </a:pPr>
          </a:p>
        </p:txBody>
      </p:sp>
      <p:sp>
        <p:nvSpPr>
          <p:cNvPr name="TextBox 17" id="17"/>
          <p:cNvSpPr txBox="true"/>
          <p:nvPr/>
        </p:nvSpPr>
        <p:spPr>
          <a:xfrm rot="0">
            <a:off x="4494198" y="2442811"/>
            <a:ext cx="4067920" cy="1066800"/>
          </a:xfrm>
          <a:prstGeom prst="rect">
            <a:avLst/>
          </a:prstGeom>
        </p:spPr>
        <p:txBody>
          <a:bodyPr anchor="t" rtlCol="false" tIns="0" lIns="0" bIns="0" rIns="0">
            <a:spAutoFit/>
          </a:bodyPr>
          <a:lstStyle/>
          <a:p>
            <a:pPr algn="ctr">
              <a:lnSpc>
                <a:spcPts val="4200"/>
              </a:lnSpc>
              <a:spcBef>
                <a:spcPct val="0"/>
              </a:spcBef>
            </a:pPr>
            <a:r>
              <a:rPr lang="en-US" b="true" sz="3000">
                <a:solidFill>
                  <a:srgbClr val="2F4156"/>
                </a:solidFill>
                <a:latin typeface="Cloud Bold"/>
                <a:ea typeface="Cloud Bold"/>
                <a:cs typeface="Cloud Bold"/>
                <a:sym typeface="Cloud Bold"/>
              </a:rPr>
              <a:t>Core Development Stack (MERN)</a:t>
            </a:r>
          </a:p>
        </p:txBody>
      </p:sp>
      <p:sp>
        <p:nvSpPr>
          <p:cNvPr name="TextBox 18" id="18"/>
          <p:cNvSpPr txBox="true"/>
          <p:nvPr/>
        </p:nvSpPr>
        <p:spPr>
          <a:xfrm rot="0">
            <a:off x="4494198" y="228600"/>
            <a:ext cx="9299605" cy="133350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Technology Stack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true" rot="0">
            <a:off x="-504025"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889928" y="-343927"/>
            <a:ext cx="6508145" cy="2745254"/>
          </a:xfrm>
          <a:custGeom>
            <a:avLst/>
            <a:gdLst/>
            <a:ahLst/>
            <a:cxnLst/>
            <a:rect r="r" b="b" t="t" l="l"/>
            <a:pathLst>
              <a:path h="2745254" w="6508145">
                <a:moveTo>
                  <a:pt x="6508144" y="2745254"/>
                </a:moveTo>
                <a:lnTo>
                  <a:pt x="0" y="2745254"/>
                </a:lnTo>
                <a:lnTo>
                  <a:pt x="0" y="0"/>
                </a:lnTo>
                <a:lnTo>
                  <a:pt x="6508144" y="0"/>
                </a:lnTo>
                <a:lnTo>
                  <a:pt x="6508144"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283880" y="-343927"/>
            <a:ext cx="6508145" cy="2745254"/>
          </a:xfrm>
          <a:custGeom>
            <a:avLst/>
            <a:gdLst/>
            <a:ahLst/>
            <a:cxnLst/>
            <a:rect r="r" b="b" t="t" l="l"/>
            <a:pathLst>
              <a:path h="2745254" w="6508145">
                <a:moveTo>
                  <a:pt x="0" y="2745254"/>
                </a:moveTo>
                <a:lnTo>
                  <a:pt x="6508145" y="2745254"/>
                </a:lnTo>
                <a:lnTo>
                  <a:pt x="6508145" y="0"/>
                </a:lnTo>
                <a:lnTo>
                  <a:pt x="0" y="0"/>
                </a:lnTo>
                <a:lnTo>
                  <a:pt x="0" y="274525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529317" y="1847436"/>
            <a:ext cx="12703611" cy="12691989"/>
          </a:xfrm>
          <a:custGeom>
            <a:avLst/>
            <a:gdLst/>
            <a:ahLst/>
            <a:cxnLst/>
            <a:rect r="r" b="b" t="t" l="l"/>
            <a:pathLst>
              <a:path h="12691989" w="12703611">
                <a:moveTo>
                  <a:pt x="0" y="0"/>
                </a:moveTo>
                <a:lnTo>
                  <a:pt x="12703611" y="0"/>
                </a:lnTo>
                <a:lnTo>
                  <a:pt x="12703611" y="12691988"/>
                </a:lnTo>
                <a:lnTo>
                  <a:pt x="0" y="12691988"/>
                </a:lnTo>
                <a:lnTo>
                  <a:pt x="0" y="0"/>
                </a:lnTo>
                <a:close/>
              </a:path>
            </a:pathLst>
          </a:custGeom>
          <a:blipFill>
            <a:blip r:embed="rId4"/>
            <a:stretch>
              <a:fillRect l="0" t="0" r="0" b="0"/>
            </a:stretch>
          </a:blipFill>
        </p:spPr>
      </p:sp>
      <p:grpSp>
        <p:nvGrpSpPr>
          <p:cNvPr name="Group 6" id="6"/>
          <p:cNvGrpSpPr/>
          <p:nvPr/>
        </p:nvGrpSpPr>
        <p:grpSpPr>
          <a:xfrm rot="0">
            <a:off x="-321706" y="3002959"/>
            <a:ext cx="18931411" cy="9101640"/>
            <a:chOff x="0" y="0"/>
            <a:chExt cx="660400" cy="317500"/>
          </a:xfrm>
        </p:grpSpPr>
        <p:sp>
          <p:nvSpPr>
            <p:cNvPr name="Freeform 7" id="7"/>
            <p:cNvSpPr/>
            <p:nvPr/>
          </p:nvSpPr>
          <p:spPr>
            <a:xfrm flipH="false" flipV="false" rot="0">
              <a:off x="0" y="0"/>
              <a:ext cx="660400" cy="317500"/>
            </a:xfrm>
            <a:custGeom>
              <a:avLst/>
              <a:gdLst/>
              <a:ahLst/>
              <a:cxnLst/>
              <a:rect r="r" b="b" t="t" l="l"/>
              <a:pathLst>
                <a:path h="3175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2F4156"/>
            </a:solidFill>
          </p:spPr>
        </p:sp>
        <p:sp>
          <p:nvSpPr>
            <p:cNvPr name="TextBox 8" id="8"/>
            <p:cNvSpPr txBox="true"/>
            <p:nvPr/>
          </p:nvSpPr>
          <p:spPr>
            <a:xfrm>
              <a:off x="0" y="31750"/>
              <a:ext cx="660400" cy="285750"/>
            </a:xfrm>
            <a:prstGeom prst="rect">
              <a:avLst/>
            </a:prstGeom>
          </p:spPr>
          <p:txBody>
            <a:bodyPr anchor="ctr" rtlCol="false" tIns="50800" lIns="50800" bIns="50800" rIns="50800"/>
            <a:lstStyle/>
            <a:p>
              <a:pPr algn="ctr">
                <a:lnSpc>
                  <a:spcPts val="2935"/>
                </a:lnSpc>
              </a:pPr>
            </a:p>
          </p:txBody>
        </p:sp>
      </p:grpSp>
      <p:sp>
        <p:nvSpPr>
          <p:cNvPr name="Freeform 9" id="9"/>
          <p:cNvSpPr/>
          <p:nvPr/>
        </p:nvSpPr>
        <p:spPr>
          <a:xfrm flipH="false" flipV="false" rot="0">
            <a:off x="14795531"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923855" y="998553"/>
            <a:ext cx="1697766" cy="1697766"/>
          </a:xfrm>
          <a:custGeom>
            <a:avLst/>
            <a:gdLst/>
            <a:ahLst/>
            <a:cxnLst/>
            <a:rect r="r" b="b" t="t" l="l"/>
            <a:pathLst>
              <a:path h="1697766" w="1697766">
                <a:moveTo>
                  <a:pt x="0" y="0"/>
                </a:moveTo>
                <a:lnTo>
                  <a:pt x="1697766" y="0"/>
                </a:lnTo>
                <a:lnTo>
                  <a:pt x="1697766" y="1697766"/>
                </a:lnTo>
                <a:lnTo>
                  <a:pt x="0" y="1697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7568366" y="1627460"/>
            <a:ext cx="1203264" cy="1203264"/>
          </a:xfrm>
          <a:custGeom>
            <a:avLst/>
            <a:gdLst/>
            <a:ahLst/>
            <a:cxnLst/>
            <a:rect r="r" b="b" t="t" l="l"/>
            <a:pathLst>
              <a:path h="1203264" w="1203264">
                <a:moveTo>
                  <a:pt x="0" y="0"/>
                </a:moveTo>
                <a:lnTo>
                  <a:pt x="1203265" y="0"/>
                </a:lnTo>
                <a:lnTo>
                  <a:pt x="1203265"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601632" y="2401327"/>
            <a:ext cx="1203264" cy="1203264"/>
          </a:xfrm>
          <a:custGeom>
            <a:avLst/>
            <a:gdLst/>
            <a:ahLst/>
            <a:cxnLst/>
            <a:rect r="r" b="b" t="t" l="l"/>
            <a:pathLst>
              <a:path h="1203264" w="1203264">
                <a:moveTo>
                  <a:pt x="0" y="0"/>
                </a:moveTo>
                <a:lnTo>
                  <a:pt x="1203264" y="0"/>
                </a:lnTo>
                <a:lnTo>
                  <a:pt x="1203264" y="1203264"/>
                </a:lnTo>
                <a:lnTo>
                  <a:pt x="0" y="12032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3875433" y="4478000"/>
            <a:ext cx="10362863" cy="5720050"/>
          </a:xfrm>
          <a:prstGeom prst="rect">
            <a:avLst/>
          </a:prstGeom>
        </p:spPr>
        <p:txBody>
          <a:bodyPr anchor="t" rtlCol="false" tIns="0" lIns="0" bIns="0" rIns="0">
            <a:spAutoFit/>
          </a:bodyPr>
          <a:lstStyle/>
          <a:p>
            <a:pPr algn="just" marL="582945" indent="-291473" lvl="1">
              <a:lnSpc>
                <a:spcPts val="3780"/>
              </a:lnSpc>
              <a:buFont typeface="Arial"/>
              <a:buChar char="•"/>
            </a:pPr>
            <a:r>
              <a:rPr lang="en-US" sz="2700">
                <a:solidFill>
                  <a:srgbClr val="F5EFEB"/>
                </a:solidFill>
                <a:latin typeface="Cloud"/>
                <a:ea typeface="Cloud"/>
                <a:cs typeface="Cloud"/>
                <a:sym typeface="Cloud"/>
              </a:rPr>
              <a:t>API Response Time: &lt; 200 ms</a:t>
            </a:r>
          </a:p>
          <a:p>
            <a:pPr algn="just" marL="582945" indent="-291473" lvl="1">
              <a:lnSpc>
                <a:spcPts val="3780"/>
              </a:lnSpc>
              <a:buFont typeface="Arial"/>
              <a:buChar char="•"/>
            </a:pPr>
            <a:r>
              <a:rPr lang="en-US" sz="2700">
                <a:solidFill>
                  <a:srgbClr val="F5EFEB"/>
                </a:solidFill>
                <a:latin typeface="Cloud"/>
                <a:ea typeface="Cloud"/>
                <a:cs typeface="Cloud"/>
                <a:sym typeface="Cloud"/>
              </a:rPr>
              <a:t>Efficient Matching: Reduced NGO search time via proximity filtering</a:t>
            </a:r>
          </a:p>
          <a:p>
            <a:pPr algn="just" marL="582945" indent="-291473" lvl="1">
              <a:lnSpc>
                <a:spcPts val="3780"/>
              </a:lnSpc>
              <a:buFont typeface="Arial"/>
              <a:buChar char="•"/>
            </a:pPr>
            <a:r>
              <a:rPr lang="en-US" sz="2700">
                <a:solidFill>
                  <a:srgbClr val="F5EFEB"/>
                </a:solidFill>
                <a:latin typeface="Cloud"/>
                <a:ea typeface="Cloud"/>
                <a:cs typeface="Cloud"/>
                <a:sym typeface="Cloud"/>
              </a:rPr>
              <a:t>Stable Performance: Minimal delay under multi-user scenarios</a:t>
            </a:r>
          </a:p>
          <a:p>
            <a:pPr algn="just" marL="582945" indent="-291473" lvl="1">
              <a:lnSpc>
                <a:spcPts val="3780"/>
              </a:lnSpc>
              <a:buFont typeface="Arial"/>
              <a:buChar char="•"/>
            </a:pPr>
            <a:r>
              <a:rPr lang="en-US" sz="2700">
                <a:solidFill>
                  <a:srgbClr val="F5EFEB"/>
                </a:solidFill>
                <a:latin typeface="Cloud"/>
                <a:ea typeface="Cloud"/>
                <a:cs typeface="Cloud"/>
                <a:sym typeface="Cloud"/>
              </a:rPr>
              <a:t>Accurate Allocation: Distance + expiry scoring improved match quality</a:t>
            </a:r>
          </a:p>
          <a:p>
            <a:pPr algn="just" marL="582945" indent="-291473" lvl="1">
              <a:lnSpc>
                <a:spcPts val="3780"/>
              </a:lnSpc>
              <a:buFont typeface="Arial"/>
              <a:buChar char="•"/>
            </a:pPr>
            <a:r>
              <a:rPr lang="en-US" sz="2700">
                <a:solidFill>
                  <a:srgbClr val="F5EFEB"/>
                </a:solidFill>
                <a:latin typeface="Cloud"/>
                <a:ea typeface="Cloud"/>
                <a:cs typeface="Cloud"/>
                <a:sym typeface="Cloud"/>
              </a:rPr>
              <a:t>Reduced Food Wastage through timely redistribution</a:t>
            </a:r>
          </a:p>
          <a:p>
            <a:pPr algn="just" marL="582945" indent="-291473" lvl="1">
              <a:lnSpc>
                <a:spcPts val="3780"/>
              </a:lnSpc>
              <a:buFont typeface="Arial"/>
              <a:buChar char="•"/>
            </a:pPr>
            <a:r>
              <a:rPr lang="en-US" sz="2700">
                <a:solidFill>
                  <a:srgbClr val="F5EFEB"/>
                </a:solidFill>
                <a:latin typeface="Cloud"/>
                <a:ea typeface="Cloud"/>
                <a:cs typeface="Cloud"/>
                <a:sym typeface="Cloud"/>
              </a:rPr>
              <a:t>Faster Coordination between donors and NGOs</a:t>
            </a:r>
          </a:p>
          <a:p>
            <a:pPr algn="just" marL="582945" indent="-291473" lvl="1">
              <a:lnSpc>
                <a:spcPts val="3780"/>
              </a:lnSpc>
              <a:buFont typeface="Arial"/>
              <a:buChar char="•"/>
            </a:pPr>
            <a:r>
              <a:rPr lang="en-US" sz="2700">
                <a:solidFill>
                  <a:srgbClr val="F5EFEB"/>
                </a:solidFill>
                <a:latin typeface="Cloud"/>
                <a:ea typeface="Cloud"/>
                <a:cs typeface="Cloud"/>
                <a:sym typeface="Cloud"/>
              </a:rPr>
              <a:t>Low</a:t>
            </a:r>
            <a:r>
              <a:rPr lang="en-US" sz="2700">
                <a:solidFill>
                  <a:srgbClr val="F5EFEB"/>
                </a:solidFill>
                <a:latin typeface="Cloud"/>
                <a:ea typeface="Cloud"/>
                <a:cs typeface="Cloud"/>
                <a:sym typeface="Cloud"/>
              </a:rPr>
              <a:t>er Manual Effort via automated matching</a:t>
            </a:r>
          </a:p>
          <a:p>
            <a:pPr algn="just" marL="582945" indent="-291473" lvl="1">
              <a:lnSpc>
                <a:spcPts val="3780"/>
              </a:lnSpc>
              <a:buFont typeface="Arial"/>
              <a:buChar char="•"/>
            </a:pPr>
            <a:r>
              <a:rPr lang="en-US" sz="2700">
                <a:solidFill>
                  <a:srgbClr val="F5EFEB"/>
                </a:solidFill>
                <a:latin typeface="Cloud"/>
                <a:ea typeface="Cloud"/>
                <a:cs typeface="Cloud"/>
                <a:sym typeface="Cloud"/>
              </a:rPr>
              <a:t>Sc</a:t>
            </a:r>
            <a:r>
              <a:rPr lang="en-US" sz="2700">
                <a:solidFill>
                  <a:srgbClr val="F5EFEB"/>
                </a:solidFill>
                <a:latin typeface="Cloud"/>
                <a:ea typeface="Cloud"/>
                <a:cs typeface="Cloud"/>
                <a:sym typeface="Cloud"/>
              </a:rPr>
              <a:t>alable Solution for urban, high-demand environments</a:t>
            </a:r>
          </a:p>
          <a:p>
            <a:pPr algn="just" marL="582945" indent="-291473" lvl="1">
              <a:lnSpc>
                <a:spcPts val="3780"/>
              </a:lnSpc>
              <a:buFont typeface="Arial"/>
              <a:buChar char="•"/>
            </a:pPr>
            <a:r>
              <a:rPr lang="en-US" sz="2700">
                <a:solidFill>
                  <a:srgbClr val="F5EFEB"/>
                </a:solidFill>
                <a:latin typeface="Cloud"/>
                <a:ea typeface="Cloud"/>
                <a:cs typeface="Cloud"/>
                <a:sym typeface="Cloud"/>
              </a:rPr>
              <a:t>Improved Transparency with real-time map visibility</a:t>
            </a:r>
          </a:p>
          <a:p>
            <a:pPr algn="just">
              <a:lnSpc>
                <a:spcPts val="3780"/>
              </a:lnSpc>
              <a:spcBef>
                <a:spcPct val="0"/>
              </a:spcBef>
            </a:pPr>
          </a:p>
        </p:txBody>
      </p:sp>
      <p:sp>
        <p:nvSpPr>
          <p:cNvPr name="TextBox 14" id="14"/>
          <p:cNvSpPr txBox="true"/>
          <p:nvPr/>
        </p:nvSpPr>
        <p:spPr>
          <a:xfrm rot="0">
            <a:off x="5984174" y="873367"/>
            <a:ext cx="6319652" cy="133350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Results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4590867" y="-791896"/>
            <a:ext cx="6878351" cy="6878351"/>
          </a:xfrm>
          <a:custGeom>
            <a:avLst/>
            <a:gdLst/>
            <a:ahLst/>
            <a:cxnLst/>
            <a:rect r="r" b="b" t="t" l="l"/>
            <a:pathLst>
              <a:path h="6878351" w="6878351">
                <a:moveTo>
                  <a:pt x="0" y="0"/>
                </a:moveTo>
                <a:lnTo>
                  <a:pt x="6878351" y="0"/>
                </a:lnTo>
                <a:lnTo>
                  <a:pt x="6878351" y="6878352"/>
                </a:lnTo>
                <a:lnTo>
                  <a:pt x="0" y="6878352"/>
                </a:lnTo>
                <a:lnTo>
                  <a:pt x="0" y="0"/>
                </a:lnTo>
                <a:close/>
              </a:path>
            </a:pathLst>
          </a:custGeom>
          <a:blipFill>
            <a:blip r:embed="rId2"/>
            <a:stretch>
              <a:fillRect l="0" t="0" r="0" b="0"/>
            </a:stretch>
          </a:blipFill>
        </p:spPr>
      </p:sp>
      <p:sp>
        <p:nvSpPr>
          <p:cNvPr name="Freeform 3" id="3"/>
          <p:cNvSpPr/>
          <p:nvPr/>
        </p:nvSpPr>
        <p:spPr>
          <a:xfrm flipH="false" flipV="false" rot="2700000">
            <a:off x="-3195003" y="4071833"/>
            <a:ext cx="6878351" cy="6878351"/>
          </a:xfrm>
          <a:custGeom>
            <a:avLst/>
            <a:gdLst/>
            <a:ahLst/>
            <a:cxnLst/>
            <a:rect r="r" b="b" t="t" l="l"/>
            <a:pathLst>
              <a:path h="6878351" w="6878351">
                <a:moveTo>
                  <a:pt x="0" y="0"/>
                </a:moveTo>
                <a:lnTo>
                  <a:pt x="6878351" y="0"/>
                </a:lnTo>
                <a:lnTo>
                  <a:pt x="6878351" y="6878352"/>
                </a:lnTo>
                <a:lnTo>
                  <a:pt x="0" y="6878352"/>
                </a:lnTo>
                <a:lnTo>
                  <a:pt x="0" y="0"/>
                </a:lnTo>
                <a:close/>
              </a:path>
            </a:pathLst>
          </a:custGeom>
          <a:blipFill>
            <a:blip r:embed="rId2"/>
            <a:stretch>
              <a:fillRect l="0" t="0" r="0" b="0"/>
            </a:stretch>
          </a:blipFill>
        </p:spPr>
      </p:sp>
      <p:grpSp>
        <p:nvGrpSpPr>
          <p:cNvPr name="Group 4" id="4"/>
          <p:cNvGrpSpPr/>
          <p:nvPr/>
        </p:nvGrpSpPr>
        <p:grpSpPr>
          <a:xfrm rot="0">
            <a:off x="-3908252" y="3602757"/>
            <a:ext cx="7816504" cy="781650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F4156"/>
            </a:solidFill>
          </p:spPr>
        </p:sp>
        <p:sp>
          <p:nvSpPr>
            <p:cNvPr name="TextBox 6" id="6"/>
            <p:cNvSpPr txBox="true"/>
            <p:nvPr/>
          </p:nvSpPr>
          <p:spPr>
            <a:xfrm>
              <a:off x="139700" y="44450"/>
              <a:ext cx="533400" cy="628650"/>
            </a:xfrm>
            <a:prstGeom prst="rect">
              <a:avLst/>
            </a:prstGeom>
          </p:spPr>
          <p:txBody>
            <a:bodyPr anchor="ctr" rtlCol="false" tIns="50800" lIns="50800" bIns="50800" rIns="50800"/>
            <a:lstStyle/>
            <a:p>
              <a:pPr algn="ctr">
                <a:lnSpc>
                  <a:spcPts val="2935"/>
                </a:lnSpc>
              </a:pPr>
            </a:p>
          </p:txBody>
        </p:sp>
      </p:grpSp>
      <p:grpSp>
        <p:nvGrpSpPr>
          <p:cNvPr name="Group 7" id="7"/>
          <p:cNvGrpSpPr/>
          <p:nvPr/>
        </p:nvGrpSpPr>
        <p:grpSpPr>
          <a:xfrm rot="0">
            <a:off x="14382512" y="-1260972"/>
            <a:ext cx="7816504" cy="781650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F4156"/>
            </a:solidFill>
          </p:spPr>
        </p:sp>
        <p:sp>
          <p:nvSpPr>
            <p:cNvPr name="TextBox 9" id="9"/>
            <p:cNvSpPr txBox="true"/>
            <p:nvPr/>
          </p:nvSpPr>
          <p:spPr>
            <a:xfrm>
              <a:off x="139700" y="44450"/>
              <a:ext cx="533400" cy="628650"/>
            </a:xfrm>
            <a:prstGeom prst="rect">
              <a:avLst/>
            </a:prstGeom>
          </p:spPr>
          <p:txBody>
            <a:bodyPr anchor="ctr" rtlCol="false" tIns="50800" lIns="50800" bIns="50800" rIns="50800"/>
            <a:lstStyle/>
            <a:p>
              <a:pPr algn="ctr">
                <a:lnSpc>
                  <a:spcPts val="2935"/>
                </a:lnSpc>
              </a:pPr>
            </a:p>
          </p:txBody>
        </p:sp>
      </p:grpSp>
      <p:sp>
        <p:nvSpPr>
          <p:cNvPr name="Freeform 10" id="10"/>
          <p:cNvSpPr/>
          <p:nvPr/>
        </p:nvSpPr>
        <p:spPr>
          <a:xfrm flipH="false" flipV="false" rot="0">
            <a:off x="13690799" y="6743699"/>
            <a:ext cx="4339244" cy="4114800"/>
          </a:xfrm>
          <a:custGeom>
            <a:avLst/>
            <a:gdLst/>
            <a:ahLst/>
            <a:cxnLst/>
            <a:rect r="r" b="b" t="t" l="l"/>
            <a:pathLst>
              <a:path h="4114800" w="4339244">
                <a:moveTo>
                  <a:pt x="0" y="0"/>
                </a:moveTo>
                <a:lnTo>
                  <a:pt x="4339243" y="0"/>
                </a:lnTo>
                <a:lnTo>
                  <a:pt x="433924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244173" y="-512043"/>
            <a:ext cx="4339244" cy="4114800"/>
          </a:xfrm>
          <a:custGeom>
            <a:avLst/>
            <a:gdLst/>
            <a:ahLst/>
            <a:cxnLst/>
            <a:rect r="r" b="b" t="t" l="l"/>
            <a:pathLst>
              <a:path h="4114800" w="4339244">
                <a:moveTo>
                  <a:pt x="4339243" y="0"/>
                </a:moveTo>
                <a:lnTo>
                  <a:pt x="0" y="0"/>
                </a:lnTo>
                <a:lnTo>
                  <a:pt x="0" y="4114800"/>
                </a:lnTo>
                <a:lnTo>
                  <a:pt x="4339243" y="4114800"/>
                </a:lnTo>
                <a:lnTo>
                  <a:pt x="433924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413794" y="9258300"/>
            <a:ext cx="4387287" cy="1881049"/>
          </a:xfrm>
          <a:custGeom>
            <a:avLst/>
            <a:gdLst/>
            <a:ahLst/>
            <a:cxnLst/>
            <a:rect r="r" b="b" t="t" l="l"/>
            <a:pathLst>
              <a:path h="1881049" w="4387287">
                <a:moveTo>
                  <a:pt x="0" y="0"/>
                </a:moveTo>
                <a:lnTo>
                  <a:pt x="4387287" y="0"/>
                </a:lnTo>
                <a:lnTo>
                  <a:pt x="4387287" y="1881049"/>
                </a:lnTo>
                <a:lnTo>
                  <a:pt x="0" y="188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972670" y="-852349"/>
            <a:ext cx="4387287" cy="1881049"/>
          </a:xfrm>
          <a:custGeom>
            <a:avLst/>
            <a:gdLst/>
            <a:ahLst/>
            <a:cxnLst/>
            <a:rect r="r" b="b" t="t" l="l"/>
            <a:pathLst>
              <a:path h="1881049" w="4387287">
                <a:moveTo>
                  <a:pt x="0" y="0"/>
                </a:moveTo>
                <a:lnTo>
                  <a:pt x="4387287" y="0"/>
                </a:lnTo>
                <a:lnTo>
                  <a:pt x="4387287" y="1881049"/>
                </a:lnTo>
                <a:lnTo>
                  <a:pt x="0" y="188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6261323" y="1489701"/>
            <a:ext cx="5765353" cy="133350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Future Scope</a:t>
            </a:r>
          </a:p>
        </p:txBody>
      </p:sp>
      <p:sp>
        <p:nvSpPr>
          <p:cNvPr name="TextBox 15" id="15"/>
          <p:cNvSpPr txBox="true"/>
          <p:nvPr/>
        </p:nvSpPr>
        <p:spPr>
          <a:xfrm rot="0">
            <a:off x="4287483" y="3477878"/>
            <a:ext cx="9713033" cy="3957955"/>
          </a:xfrm>
          <a:prstGeom prst="rect">
            <a:avLst/>
          </a:prstGeom>
        </p:spPr>
        <p:txBody>
          <a:bodyPr anchor="t" rtlCol="false" tIns="0" lIns="0" bIns="0" rIns="0">
            <a:spAutoFit/>
          </a:bodyPr>
          <a:lstStyle/>
          <a:p>
            <a:pPr algn="just">
              <a:lnSpc>
                <a:spcPts val="3919"/>
              </a:lnSpc>
              <a:spcBef>
                <a:spcPct val="0"/>
              </a:spcBef>
            </a:pPr>
            <a:r>
              <a:rPr lang="en-US" sz="2799">
                <a:solidFill>
                  <a:srgbClr val="2F4156"/>
                </a:solidFill>
                <a:latin typeface="Cloud"/>
                <a:ea typeface="Cloud"/>
                <a:cs typeface="Cloud"/>
                <a:sym typeface="Cloud"/>
              </a:rPr>
              <a:t>The future scope of NourishShare focuses on enhancing intelligence, efficiency, and accessibility by integrating advanced technologies such as predictive analytics and route optimization. With further development, including mobile support and real-time notifications, the system can evolve into a fully automated and scalable solution, making it suitable for large-scale deployment in smart cities and real-world environments.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false" rot="2700000">
            <a:off x="14590867" y="-791896"/>
            <a:ext cx="6878351" cy="6878351"/>
          </a:xfrm>
          <a:custGeom>
            <a:avLst/>
            <a:gdLst/>
            <a:ahLst/>
            <a:cxnLst/>
            <a:rect r="r" b="b" t="t" l="l"/>
            <a:pathLst>
              <a:path h="6878351" w="6878351">
                <a:moveTo>
                  <a:pt x="0" y="0"/>
                </a:moveTo>
                <a:lnTo>
                  <a:pt x="6878351" y="0"/>
                </a:lnTo>
                <a:lnTo>
                  <a:pt x="6878351" y="6878352"/>
                </a:lnTo>
                <a:lnTo>
                  <a:pt x="0" y="6878352"/>
                </a:lnTo>
                <a:lnTo>
                  <a:pt x="0" y="0"/>
                </a:lnTo>
                <a:close/>
              </a:path>
            </a:pathLst>
          </a:custGeom>
          <a:blipFill>
            <a:blip r:embed="rId2"/>
            <a:stretch>
              <a:fillRect l="0" t="0" r="0" b="0"/>
            </a:stretch>
          </a:blipFill>
        </p:spPr>
      </p:sp>
      <p:sp>
        <p:nvSpPr>
          <p:cNvPr name="Freeform 3" id="3"/>
          <p:cNvSpPr/>
          <p:nvPr/>
        </p:nvSpPr>
        <p:spPr>
          <a:xfrm flipH="false" flipV="false" rot="2700000">
            <a:off x="-3195003" y="4071833"/>
            <a:ext cx="6878351" cy="6878351"/>
          </a:xfrm>
          <a:custGeom>
            <a:avLst/>
            <a:gdLst/>
            <a:ahLst/>
            <a:cxnLst/>
            <a:rect r="r" b="b" t="t" l="l"/>
            <a:pathLst>
              <a:path h="6878351" w="6878351">
                <a:moveTo>
                  <a:pt x="0" y="0"/>
                </a:moveTo>
                <a:lnTo>
                  <a:pt x="6878351" y="0"/>
                </a:lnTo>
                <a:lnTo>
                  <a:pt x="6878351" y="6878352"/>
                </a:lnTo>
                <a:lnTo>
                  <a:pt x="0" y="6878352"/>
                </a:lnTo>
                <a:lnTo>
                  <a:pt x="0" y="0"/>
                </a:lnTo>
                <a:close/>
              </a:path>
            </a:pathLst>
          </a:custGeom>
          <a:blipFill>
            <a:blip r:embed="rId2"/>
            <a:stretch>
              <a:fillRect l="0" t="0" r="0" b="0"/>
            </a:stretch>
          </a:blipFill>
        </p:spPr>
      </p:sp>
      <p:grpSp>
        <p:nvGrpSpPr>
          <p:cNvPr name="Group 4" id="4"/>
          <p:cNvGrpSpPr/>
          <p:nvPr/>
        </p:nvGrpSpPr>
        <p:grpSpPr>
          <a:xfrm rot="0">
            <a:off x="-3908252" y="3602757"/>
            <a:ext cx="7816504" cy="781650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F4156"/>
            </a:solidFill>
          </p:spPr>
        </p:sp>
        <p:sp>
          <p:nvSpPr>
            <p:cNvPr name="TextBox 6" id="6"/>
            <p:cNvSpPr txBox="true"/>
            <p:nvPr/>
          </p:nvSpPr>
          <p:spPr>
            <a:xfrm>
              <a:off x="139700" y="44450"/>
              <a:ext cx="533400" cy="628650"/>
            </a:xfrm>
            <a:prstGeom prst="rect">
              <a:avLst/>
            </a:prstGeom>
          </p:spPr>
          <p:txBody>
            <a:bodyPr anchor="ctr" rtlCol="false" tIns="50800" lIns="50800" bIns="50800" rIns="50800"/>
            <a:lstStyle/>
            <a:p>
              <a:pPr algn="ctr">
                <a:lnSpc>
                  <a:spcPts val="2935"/>
                </a:lnSpc>
              </a:pPr>
            </a:p>
          </p:txBody>
        </p:sp>
      </p:grpSp>
      <p:grpSp>
        <p:nvGrpSpPr>
          <p:cNvPr name="Group 7" id="7"/>
          <p:cNvGrpSpPr/>
          <p:nvPr/>
        </p:nvGrpSpPr>
        <p:grpSpPr>
          <a:xfrm rot="0">
            <a:off x="14382512" y="-1260972"/>
            <a:ext cx="7816504" cy="781650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2F4156"/>
            </a:solidFill>
          </p:spPr>
        </p:sp>
        <p:sp>
          <p:nvSpPr>
            <p:cNvPr name="TextBox 9" id="9"/>
            <p:cNvSpPr txBox="true"/>
            <p:nvPr/>
          </p:nvSpPr>
          <p:spPr>
            <a:xfrm>
              <a:off x="139700" y="44450"/>
              <a:ext cx="533400" cy="628650"/>
            </a:xfrm>
            <a:prstGeom prst="rect">
              <a:avLst/>
            </a:prstGeom>
          </p:spPr>
          <p:txBody>
            <a:bodyPr anchor="ctr" rtlCol="false" tIns="50800" lIns="50800" bIns="50800" rIns="50800"/>
            <a:lstStyle/>
            <a:p>
              <a:pPr algn="ctr">
                <a:lnSpc>
                  <a:spcPts val="2935"/>
                </a:lnSpc>
              </a:pPr>
            </a:p>
          </p:txBody>
        </p:sp>
      </p:grpSp>
      <p:sp>
        <p:nvSpPr>
          <p:cNvPr name="Freeform 10" id="10"/>
          <p:cNvSpPr/>
          <p:nvPr/>
        </p:nvSpPr>
        <p:spPr>
          <a:xfrm flipH="false" flipV="false" rot="0">
            <a:off x="13690799" y="6743699"/>
            <a:ext cx="4339244" cy="4114800"/>
          </a:xfrm>
          <a:custGeom>
            <a:avLst/>
            <a:gdLst/>
            <a:ahLst/>
            <a:cxnLst/>
            <a:rect r="r" b="b" t="t" l="l"/>
            <a:pathLst>
              <a:path h="4114800" w="4339244">
                <a:moveTo>
                  <a:pt x="0" y="0"/>
                </a:moveTo>
                <a:lnTo>
                  <a:pt x="4339243" y="0"/>
                </a:lnTo>
                <a:lnTo>
                  <a:pt x="433924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244173" y="-512043"/>
            <a:ext cx="4339244" cy="4114800"/>
          </a:xfrm>
          <a:custGeom>
            <a:avLst/>
            <a:gdLst/>
            <a:ahLst/>
            <a:cxnLst/>
            <a:rect r="r" b="b" t="t" l="l"/>
            <a:pathLst>
              <a:path h="4114800" w="4339244">
                <a:moveTo>
                  <a:pt x="4339243" y="0"/>
                </a:moveTo>
                <a:lnTo>
                  <a:pt x="0" y="0"/>
                </a:lnTo>
                <a:lnTo>
                  <a:pt x="0" y="4114800"/>
                </a:lnTo>
                <a:lnTo>
                  <a:pt x="4339243" y="4114800"/>
                </a:lnTo>
                <a:lnTo>
                  <a:pt x="433924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413794" y="9258300"/>
            <a:ext cx="4387287" cy="1881049"/>
          </a:xfrm>
          <a:custGeom>
            <a:avLst/>
            <a:gdLst/>
            <a:ahLst/>
            <a:cxnLst/>
            <a:rect r="r" b="b" t="t" l="l"/>
            <a:pathLst>
              <a:path h="1881049" w="4387287">
                <a:moveTo>
                  <a:pt x="0" y="0"/>
                </a:moveTo>
                <a:lnTo>
                  <a:pt x="4387287" y="0"/>
                </a:lnTo>
                <a:lnTo>
                  <a:pt x="4387287" y="1881049"/>
                </a:lnTo>
                <a:lnTo>
                  <a:pt x="0" y="188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972670" y="-852349"/>
            <a:ext cx="4387287" cy="1881049"/>
          </a:xfrm>
          <a:custGeom>
            <a:avLst/>
            <a:gdLst/>
            <a:ahLst/>
            <a:cxnLst/>
            <a:rect r="r" b="b" t="t" l="l"/>
            <a:pathLst>
              <a:path h="1881049" w="4387287">
                <a:moveTo>
                  <a:pt x="0" y="0"/>
                </a:moveTo>
                <a:lnTo>
                  <a:pt x="4387287" y="0"/>
                </a:lnTo>
                <a:lnTo>
                  <a:pt x="4387287" y="1881049"/>
                </a:lnTo>
                <a:lnTo>
                  <a:pt x="0" y="188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4288865" y="3306638"/>
            <a:ext cx="9713033" cy="3957955"/>
          </a:xfrm>
          <a:prstGeom prst="rect">
            <a:avLst/>
          </a:prstGeom>
        </p:spPr>
        <p:txBody>
          <a:bodyPr anchor="t" rtlCol="false" tIns="0" lIns="0" bIns="0" rIns="0">
            <a:spAutoFit/>
          </a:bodyPr>
          <a:lstStyle/>
          <a:p>
            <a:pPr algn="just">
              <a:lnSpc>
                <a:spcPts val="3919"/>
              </a:lnSpc>
              <a:spcBef>
                <a:spcPct val="0"/>
              </a:spcBef>
            </a:pPr>
            <a:r>
              <a:rPr lang="en-US" sz="2799">
                <a:solidFill>
                  <a:srgbClr val="2F4156"/>
                </a:solidFill>
                <a:latin typeface="Cloud"/>
                <a:ea typeface="Cloud"/>
                <a:cs typeface="Cloud"/>
                <a:sym typeface="Cloud"/>
              </a:rPr>
              <a:t>NourishShare presents a practical and scalable approach to addressing food wastage by leveraging geospatial intelligence and modern web technologies. By enabling real-time matching and automated coordination, the system improves efficiency and reduces delays in food redistribution. Overall, it demonstrates how technology can be effectively used to create meaningful social impact while maintaining scalability and reliability.</a:t>
            </a:r>
          </a:p>
        </p:txBody>
      </p:sp>
      <p:sp>
        <p:nvSpPr>
          <p:cNvPr name="TextBox 15" id="15"/>
          <p:cNvSpPr txBox="true"/>
          <p:nvPr/>
        </p:nvSpPr>
        <p:spPr>
          <a:xfrm rot="0">
            <a:off x="5203709" y="1404081"/>
            <a:ext cx="7883347" cy="1327150"/>
          </a:xfrm>
          <a:prstGeom prst="rect">
            <a:avLst/>
          </a:prstGeom>
        </p:spPr>
        <p:txBody>
          <a:bodyPr anchor="t" rtlCol="false" tIns="0" lIns="0" bIns="0" rIns="0">
            <a:spAutoFit/>
          </a:bodyPr>
          <a:lstStyle/>
          <a:p>
            <a:pPr algn="ctr">
              <a:lnSpc>
                <a:spcPts val="9799"/>
              </a:lnSpc>
            </a:pPr>
            <a:r>
              <a:rPr lang="en-US" sz="6999" b="true">
                <a:solidFill>
                  <a:srgbClr val="2F4156"/>
                </a:solidFill>
                <a:latin typeface="Clarendon Narrow Bold"/>
                <a:ea typeface="Clarendon Narrow Bold"/>
                <a:cs typeface="Clarendon Narrow Bold"/>
                <a:sym typeface="Clarendon Narrow Bold"/>
              </a:rPr>
              <a:t>Conclusion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EFEB"/>
        </a:solidFill>
      </p:bgPr>
    </p:bg>
    <p:spTree>
      <p:nvGrpSpPr>
        <p:cNvPr id="1" name=""/>
        <p:cNvGrpSpPr/>
        <p:nvPr/>
      </p:nvGrpSpPr>
      <p:grpSpPr>
        <a:xfrm>
          <a:off x="0" y="0"/>
          <a:ext cx="0" cy="0"/>
          <a:chOff x="0" y="0"/>
          <a:chExt cx="0" cy="0"/>
        </a:xfrm>
      </p:grpSpPr>
      <p:sp>
        <p:nvSpPr>
          <p:cNvPr name="Freeform 2" id="2"/>
          <p:cNvSpPr/>
          <p:nvPr/>
        </p:nvSpPr>
        <p:spPr>
          <a:xfrm flipH="false" flipV="false" rot="0">
            <a:off x="4699198" y="665151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93484" y="-383408"/>
            <a:ext cx="11067650" cy="11053816"/>
          </a:xfrm>
          <a:custGeom>
            <a:avLst/>
            <a:gdLst/>
            <a:ahLst/>
            <a:cxnLst/>
            <a:rect r="r" b="b" t="t" l="l"/>
            <a:pathLst>
              <a:path h="11053816" w="11067650">
                <a:moveTo>
                  <a:pt x="0" y="0"/>
                </a:moveTo>
                <a:lnTo>
                  <a:pt x="11067651" y="0"/>
                </a:lnTo>
                <a:lnTo>
                  <a:pt x="11067651" y="11053816"/>
                </a:lnTo>
                <a:lnTo>
                  <a:pt x="0" y="11053816"/>
                </a:lnTo>
                <a:lnTo>
                  <a:pt x="0" y="0"/>
                </a:lnTo>
                <a:close/>
              </a:path>
            </a:pathLst>
          </a:custGeom>
          <a:blipFill>
            <a:blip r:embed="rId4"/>
            <a:stretch>
              <a:fillRect l="0" t="0" r="0" b="0"/>
            </a:stretch>
          </a:blipFill>
        </p:spPr>
      </p:sp>
      <p:grpSp>
        <p:nvGrpSpPr>
          <p:cNvPr name="Group 4" id="4"/>
          <p:cNvGrpSpPr/>
          <p:nvPr/>
        </p:nvGrpSpPr>
        <p:grpSpPr>
          <a:xfrm rot="5400000">
            <a:off x="7857602" y="-1836977"/>
            <a:ext cx="11343275" cy="13960954"/>
            <a:chOff x="0" y="0"/>
            <a:chExt cx="660400" cy="812800"/>
          </a:xfrm>
        </p:grpSpPr>
        <p:sp>
          <p:nvSpPr>
            <p:cNvPr name="Freeform 5" id="5"/>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2F4156"/>
            </a:solidFill>
          </p:spPr>
        </p:sp>
        <p:sp>
          <p:nvSpPr>
            <p:cNvPr name="TextBox 6" id="6"/>
            <p:cNvSpPr txBox="true"/>
            <p:nvPr/>
          </p:nvSpPr>
          <p:spPr>
            <a:xfrm>
              <a:off x="0" y="-95250"/>
              <a:ext cx="660400" cy="781050"/>
            </a:xfrm>
            <a:prstGeom prst="rect">
              <a:avLst/>
            </a:prstGeom>
          </p:spPr>
          <p:txBody>
            <a:bodyPr anchor="ctr" rtlCol="false" tIns="50800" lIns="50800" bIns="50800" rIns="50800"/>
            <a:lstStyle/>
            <a:p>
              <a:pPr algn="ctr">
                <a:lnSpc>
                  <a:spcPts val="2935"/>
                </a:lnSpc>
              </a:pPr>
            </a:p>
          </p:txBody>
        </p:sp>
      </p:grpSp>
      <p:sp>
        <p:nvSpPr>
          <p:cNvPr name="Freeform 7" id="7"/>
          <p:cNvSpPr/>
          <p:nvPr/>
        </p:nvSpPr>
        <p:spPr>
          <a:xfrm flipH="false" flipV="false" rot="0">
            <a:off x="-333092" y="-383408"/>
            <a:ext cx="5426576" cy="4676722"/>
          </a:xfrm>
          <a:custGeom>
            <a:avLst/>
            <a:gdLst/>
            <a:ahLst/>
            <a:cxnLst/>
            <a:rect r="r" b="b" t="t" l="l"/>
            <a:pathLst>
              <a:path h="4676722" w="5426576">
                <a:moveTo>
                  <a:pt x="0" y="0"/>
                </a:moveTo>
                <a:lnTo>
                  <a:pt x="5426576" y="0"/>
                </a:lnTo>
                <a:lnTo>
                  <a:pt x="5426576" y="4676722"/>
                </a:lnTo>
                <a:lnTo>
                  <a:pt x="0" y="46767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true" rot="0">
            <a:off x="204154" y="7647498"/>
            <a:ext cx="2176042" cy="2427633"/>
          </a:xfrm>
          <a:custGeom>
            <a:avLst/>
            <a:gdLst/>
            <a:ahLst/>
            <a:cxnLst/>
            <a:rect r="r" b="b" t="t" l="l"/>
            <a:pathLst>
              <a:path h="2427633" w="2176042">
                <a:moveTo>
                  <a:pt x="2176042" y="2427634"/>
                </a:moveTo>
                <a:lnTo>
                  <a:pt x="0" y="2427634"/>
                </a:lnTo>
                <a:lnTo>
                  <a:pt x="0" y="0"/>
                </a:lnTo>
                <a:lnTo>
                  <a:pt x="2176042" y="0"/>
                </a:lnTo>
                <a:lnTo>
                  <a:pt x="2176042" y="2427634"/>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7072145" y="3411592"/>
            <a:ext cx="9612372" cy="3673366"/>
          </a:xfrm>
          <a:prstGeom prst="rect">
            <a:avLst/>
          </a:prstGeom>
        </p:spPr>
        <p:txBody>
          <a:bodyPr anchor="t" rtlCol="false" tIns="0" lIns="0" bIns="0" rIns="0">
            <a:spAutoFit/>
          </a:bodyPr>
          <a:lstStyle/>
          <a:p>
            <a:pPr algn="ctr">
              <a:lnSpc>
                <a:spcPts val="12687"/>
              </a:lnSpc>
            </a:pPr>
            <a:r>
              <a:rPr lang="en-US" sz="14926">
                <a:solidFill>
                  <a:srgbClr val="F5EFEB"/>
                </a:solidFill>
                <a:latin typeface="Clarendon Narrow"/>
                <a:ea typeface="Clarendon Narrow"/>
                <a:cs typeface="Clarendon Narrow"/>
                <a:sym typeface="Clarendon Narrow"/>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DAHIOWsbX7I</dc:identifier>
  <dcterms:modified xsi:type="dcterms:W3CDTF">2011-08-01T06:04:30Z</dcterms:modified>
  <cp:revision>1</cp:revision>
  <dc:title>NourishShare</dc:title>
</cp:coreProperties>
</file>